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Robot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20" Type="http://schemas.openxmlformats.org/officeDocument/2006/relationships/slide" Target="slides/slide15.xml"/><Relationship Id="rId42" Type="http://schemas.openxmlformats.org/officeDocument/2006/relationships/font" Target="fonts/Roboto-boldItalic.fntdata"/><Relationship Id="rId41" Type="http://schemas.openxmlformats.org/officeDocument/2006/relationships/font" Target="fonts/Robot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7e6cdb7b3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7e6cdb7b3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88af79f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f88af79f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2ec24198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2ec24198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a24e3cd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a24e3cd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8828b391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8828b391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8828b391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8828b391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88af79f0d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88af79f0d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8828b391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8828b391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8828b391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f8828b391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f58a464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f58a464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8828b391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8828b391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8857ee5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8857ee5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88af79f0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88af79f0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88af79f0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88af79f0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88af79f0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88af79f0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88af79f0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88af79f0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8828b391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8828b391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88af79f0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88af79f0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8828b391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8828b391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88af79f0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88af79f0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88af79f0d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88af79f0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88af79f0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88af79f0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88af79f0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f88af79f0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88af79f0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f88af79f0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f2597fa3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df2597fa3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8828b39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f8828b39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e0d7dc53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e0d7dc53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8828b391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f8828b391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8828b391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8828b391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ef544966d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ef544966d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f544966d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ef544966d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a24e3cd4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a24e3cd4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13.jpg"/><Relationship Id="rId5"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hyperlink" Target="https://docs.google.com/document/d/1dk_RPJT_ErQHsm0ew2nzpdH_vvKVOrC2AjtgWdU9H-A/edit?tab=t.ukyf7383s35#bookmark=id.i2mx2xrel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hyperlink" Target="https://docs.google.com/document/d/1dk_RPJT_ErQHsm0ew2nzpdH_vvKVOrC2AjtgWdU9H-A/edit?tab=t.ukyf7383s35#bookmark=id.ytkyc8ue4a3a"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image" Target="../media/image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7.jpg"/><Relationship Id="rId5" Type="http://schemas.openxmlformats.org/officeDocument/2006/relationships/image" Target="../media/image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 Id="rId4" Type="http://schemas.openxmlformats.org/officeDocument/2006/relationships/image" Target="../media/image1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jpg"/><Relationship Id="rId4" Type="http://schemas.openxmlformats.org/officeDocument/2006/relationships/image" Target="../media/image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 Id="rId4" Type="http://schemas.openxmlformats.org/officeDocument/2006/relationships/image" Target="../media/image1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 Id="rId4" Type="http://schemas.openxmlformats.org/officeDocument/2006/relationships/image" Target="../media/image1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531400" y="3134850"/>
            <a:ext cx="2851200" cy="28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Roboto"/>
                <a:ea typeface="Roboto"/>
                <a:cs typeface="Roboto"/>
                <a:sym typeface="Roboto"/>
              </a:rPr>
              <a:t>Council Chambers and Zoom</a:t>
            </a:r>
            <a:endParaRPr>
              <a:solidFill>
                <a:srgbClr val="FFFFFF"/>
              </a:solidFill>
              <a:latin typeface="Roboto"/>
              <a:ea typeface="Roboto"/>
              <a:cs typeface="Roboto"/>
              <a:sym typeface="Roboto"/>
            </a:endParaRPr>
          </a:p>
        </p:txBody>
      </p:sp>
      <p:cxnSp>
        <p:nvCxnSpPr>
          <p:cNvPr id="55" name="Google Shape;55;p13"/>
          <p:cNvCxnSpPr/>
          <p:nvPr/>
        </p:nvCxnSpPr>
        <p:spPr>
          <a:xfrm>
            <a:off x="648100" y="1962250"/>
            <a:ext cx="4757400" cy="0"/>
          </a:xfrm>
          <a:prstGeom prst="straightConnector1">
            <a:avLst/>
          </a:prstGeom>
          <a:noFill/>
          <a:ln cap="flat" cmpd="sng" w="28575">
            <a:solidFill>
              <a:srgbClr val="27AAE1"/>
            </a:solidFill>
            <a:prstDash val="solid"/>
            <a:round/>
            <a:headEnd len="med" w="med" type="none"/>
            <a:tailEnd len="med" w="med" type="none"/>
          </a:ln>
        </p:spPr>
      </p:cxnSp>
      <p:sp>
        <p:nvSpPr>
          <p:cNvPr id="56" name="Google Shape;56;p13"/>
          <p:cNvSpPr txBox="1"/>
          <p:nvPr/>
        </p:nvSpPr>
        <p:spPr>
          <a:xfrm>
            <a:off x="531400" y="2283750"/>
            <a:ext cx="6480900" cy="28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Roboto"/>
                <a:ea typeface="Roboto"/>
                <a:cs typeface="Roboto"/>
                <a:sym typeface="Roboto"/>
              </a:rPr>
              <a:t>August 27, 2026 </a:t>
            </a:r>
            <a:endParaRPr sz="2400">
              <a:solidFill>
                <a:srgbClr val="FFFFFF"/>
              </a:solidFill>
              <a:latin typeface="Roboto"/>
              <a:ea typeface="Roboto"/>
              <a:cs typeface="Roboto"/>
              <a:sym typeface="Roboto"/>
            </a:endParaRPr>
          </a:p>
          <a:p>
            <a:pPr indent="0" lvl="0" marL="0" rtl="0" algn="l">
              <a:spcBef>
                <a:spcPts val="0"/>
              </a:spcBef>
              <a:spcAft>
                <a:spcPts val="0"/>
              </a:spcAft>
              <a:buNone/>
            </a:pPr>
            <a:r>
              <a:rPr lang="en" sz="1800">
                <a:solidFill>
                  <a:srgbClr val="FFFFFF"/>
                </a:solidFill>
                <a:latin typeface="Roboto"/>
                <a:ea typeface="Roboto"/>
                <a:cs typeface="Roboto"/>
                <a:sym typeface="Roboto"/>
              </a:rPr>
              <a:t>5:30 PM </a:t>
            </a:r>
            <a:endParaRPr sz="1800">
              <a:solidFill>
                <a:srgbClr val="FFFFFF"/>
              </a:solidFill>
              <a:latin typeface="Roboto"/>
              <a:ea typeface="Roboto"/>
              <a:cs typeface="Roboto"/>
              <a:sym typeface="Roboto"/>
            </a:endParaRPr>
          </a:p>
        </p:txBody>
      </p:sp>
      <p:sp>
        <p:nvSpPr>
          <p:cNvPr id="57" name="Google Shape;57;p13"/>
          <p:cNvSpPr txBox="1"/>
          <p:nvPr>
            <p:ph type="ctrTitle"/>
          </p:nvPr>
        </p:nvSpPr>
        <p:spPr>
          <a:xfrm>
            <a:off x="531400" y="1119900"/>
            <a:ext cx="80514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4800">
                <a:solidFill>
                  <a:schemeClr val="lt1"/>
                </a:solidFill>
                <a:latin typeface="Roboto"/>
                <a:ea typeface="Roboto"/>
                <a:cs typeface="Roboto"/>
                <a:sym typeface="Roboto"/>
              </a:rPr>
              <a:t>Board of Zoning Appeals</a:t>
            </a:r>
            <a:endParaRPr sz="12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sp>
        <p:nvSpPr>
          <p:cNvPr id="62" name="Google Shape;62;p14"/>
          <p:cNvSpPr txBox="1"/>
          <p:nvPr/>
        </p:nvSpPr>
        <p:spPr>
          <a:xfrm>
            <a:off x="343550" y="681900"/>
            <a:ext cx="8344200" cy="3779700"/>
          </a:xfrm>
          <a:prstGeom prst="rect">
            <a:avLst/>
          </a:prstGeom>
          <a:noFill/>
          <a:ln>
            <a:noFill/>
          </a:ln>
        </p:spPr>
        <p:txBody>
          <a:bodyPr anchorCtr="0" anchor="ctr" bIns="91425" lIns="91425" spcFirstLastPara="1" rIns="91425" wrap="square" tIns="91425">
            <a:noAutofit/>
          </a:bodyPr>
          <a:lstStyle/>
          <a:p>
            <a:pPr indent="-381000" lvl="0" marL="914400" rtl="0" algn="l">
              <a:lnSpc>
                <a:spcPct val="115000"/>
              </a:lnSpc>
              <a:spcBef>
                <a:spcPts val="1200"/>
              </a:spcBef>
              <a:spcAft>
                <a:spcPts val="0"/>
              </a:spcAft>
              <a:buClr>
                <a:srgbClr val="073763"/>
              </a:buClr>
              <a:buSzPts val="2400"/>
              <a:buFont typeface="Roboto"/>
              <a:buChar char="●"/>
            </a:pPr>
            <a:r>
              <a:rPr b="1" lang="en" sz="2400">
                <a:solidFill>
                  <a:srgbClr val="073763"/>
                </a:solidFill>
                <a:highlight>
                  <a:srgbClr val="FFFFFF"/>
                </a:highlight>
                <a:latin typeface="Roboto"/>
                <a:ea typeface="Roboto"/>
                <a:cs typeface="Roboto"/>
                <a:sym typeface="Roboto"/>
              </a:rPr>
              <a:t>Conditional Use: </a:t>
            </a:r>
            <a:r>
              <a:rPr lang="en" sz="2400">
                <a:solidFill>
                  <a:srgbClr val="073763"/>
                </a:solidFill>
                <a:highlight>
                  <a:srgbClr val="FFFFFF"/>
                </a:highlight>
                <a:latin typeface="Roboto"/>
                <a:ea typeface="Roboto"/>
                <a:cs typeface="Roboto"/>
                <a:sym typeface="Roboto"/>
              </a:rPr>
              <a:t>A request at 412 E. Wylie Street for Conditional Use approval to allow for the use "Dwelling, Duplex" in the Residential Small Lot (R3) zoning district by Kevin Spicer.</a:t>
            </a:r>
            <a:endParaRPr sz="2400">
              <a:solidFill>
                <a:srgbClr val="073763"/>
              </a:solidFill>
              <a:latin typeface="Roboto"/>
              <a:ea typeface="Roboto"/>
              <a:cs typeface="Roboto"/>
              <a:sym typeface="Roboto"/>
            </a:endParaRPr>
          </a:p>
          <a:p>
            <a:pPr indent="-381000" lvl="0" marL="914400" rtl="0" algn="l">
              <a:lnSpc>
                <a:spcPct val="115000"/>
              </a:lnSpc>
              <a:spcBef>
                <a:spcPts val="0"/>
              </a:spcBef>
              <a:spcAft>
                <a:spcPts val="0"/>
              </a:spcAft>
              <a:buClr>
                <a:srgbClr val="073763"/>
              </a:buClr>
              <a:buSzPts val="2400"/>
              <a:buFont typeface="Roboto"/>
              <a:buChar char="●"/>
            </a:pPr>
            <a:r>
              <a:rPr b="1" lang="en" sz="2400">
                <a:solidFill>
                  <a:srgbClr val="073763"/>
                </a:solidFill>
                <a:highlight>
                  <a:srgbClr val="FFFFFF"/>
                </a:highlight>
                <a:latin typeface="Roboto"/>
                <a:ea typeface="Roboto"/>
                <a:cs typeface="Roboto"/>
                <a:sym typeface="Roboto"/>
              </a:rPr>
              <a:t>Variances: </a:t>
            </a:r>
            <a:r>
              <a:rPr lang="en" sz="2400">
                <a:solidFill>
                  <a:srgbClr val="073763"/>
                </a:solidFill>
                <a:highlight>
                  <a:srgbClr val="FFFFFF"/>
                </a:highlight>
                <a:latin typeface="Roboto"/>
                <a:ea typeface="Roboto"/>
                <a:cs typeface="Roboto"/>
                <a:sym typeface="Roboto"/>
              </a:rPr>
              <a:t>The petitioner is also requesting variances from the maximum vehicle parking allowance and the vehicle parking location and design standards.</a:t>
            </a:r>
            <a:endParaRPr sz="2400">
              <a:solidFill>
                <a:srgbClr val="073763"/>
              </a:solidFill>
              <a:latin typeface="Roboto"/>
              <a:ea typeface="Roboto"/>
              <a:cs typeface="Roboto"/>
              <a:sym typeface="Roboto"/>
            </a:endParaRPr>
          </a:p>
        </p:txBody>
      </p:sp>
      <p:sp>
        <p:nvSpPr>
          <p:cNvPr id="63" name="Google Shape;63;p14"/>
          <p:cNvSpPr txBox="1"/>
          <p:nvPr>
            <p:ph type="ctrTitle"/>
          </p:nvPr>
        </p:nvSpPr>
        <p:spPr>
          <a:xfrm>
            <a:off x="343550" y="252300"/>
            <a:ext cx="22233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Requests</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pic>
        <p:nvPicPr>
          <p:cNvPr id="68" name="Google Shape;68;p15" title="Screenshot 2026-08-27 152451.jpg"/>
          <p:cNvPicPr preferRelativeResize="0"/>
          <p:nvPr/>
        </p:nvPicPr>
        <p:blipFill>
          <a:blip r:embed="rId4">
            <a:alphaModFix/>
          </a:blip>
          <a:stretch>
            <a:fillRect/>
          </a:stretch>
        </p:blipFill>
        <p:spPr>
          <a:xfrm>
            <a:off x="1292847" y="289525"/>
            <a:ext cx="6558326" cy="4300700"/>
          </a:xfrm>
          <a:prstGeom prst="rect">
            <a:avLst/>
          </a:prstGeom>
          <a:noFill/>
          <a:ln>
            <a:noFill/>
          </a:ln>
        </p:spPr>
      </p:pic>
      <p:sp>
        <p:nvSpPr>
          <p:cNvPr id="69" name="Google Shape;69;p15"/>
          <p:cNvSpPr/>
          <p:nvPr/>
        </p:nvSpPr>
        <p:spPr>
          <a:xfrm>
            <a:off x="1382113" y="3049825"/>
            <a:ext cx="6379800" cy="173100"/>
          </a:xfrm>
          <a:prstGeom prst="rect">
            <a:avLst/>
          </a:prstGeom>
          <a:noFill/>
          <a:ln cap="flat" cmpd="sng" w="2857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
        <p:nvSpPr>
          <p:cNvPr id="74" name="Google Shape;74;p16"/>
          <p:cNvSpPr txBox="1"/>
          <p:nvPr>
            <p:ph type="ctrTitle"/>
          </p:nvPr>
        </p:nvSpPr>
        <p:spPr>
          <a:xfrm>
            <a:off x="343550" y="252300"/>
            <a:ext cx="22233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Location</a:t>
            </a:r>
            <a:endParaRPr sz="1200"/>
          </a:p>
        </p:txBody>
      </p:sp>
      <p:pic>
        <p:nvPicPr>
          <p:cNvPr id="75" name="Google Shape;75;p16" title="Screenshot 2026-06-25 093421.jpg"/>
          <p:cNvPicPr preferRelativeResize="0"/>
          <p:nvPr/>
        </p:nvPicPr>
        <p:blipFill rotWithShape="1">
          <a:blip r:embed="rId4">
            <a:alphaModFix/>
          </a:blip>
          <a:srcRect b="0" l="0" r="0" t="0"/>
          <a:stretch/>
        </p:blipFill>
        <p:spPr>
          <a:xfrm>
            <a:off x="304262" y="1060063"/>
            <a:ext cx="8535475" cy="3023375"/>
          </a:xfrm>
          <a:prstGeom prst="rect">
            <a:avLst/>
          </a:prstGeom>
          <a:noFill/>
          <a:ln>
            <a:noFill/>
          </a:ln>
        </p:spPr>
      </p:pic>
      <p:sp>
        <p:nvSpPr>
          <p:cNvPr id="76" name="Google Shape;76;p16"/>
          <p:cNvSpPr/>
          <p:nvPr/>
        </p:nvSpPr>
        <p:spPr>
          <a:xfrm>
            <a:off x="4910500" y="1439175"/>
            <a:ext cx="874500" cy="2017500"/>
          </a:xfrm>
          <a:prstGeom prst="rect">
            <a:avLst/>
          </a:prstGeom>
          <a:noFill/>
          <a:ln cap="flat" cmpd="sng" w="114300">
            <a:solidFill>
              <a:srgbClr val="27AAE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6"/>
          <p:cNvSpPr txBox="1"/>
          <p:nvPr/>
        </p:nvSpPr>
        <p:spPr>
          <a:xfrm rot="-5400000">
            <a:off x="52575" y="2428800"/>
            <a:ext cx="944100" cy="28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S. Grant St</a:t>
            </a:r>
            <a:endParaRPr sz="1200">
              <a:solidFill>
                <a:schemeClr val="dk2"/>
              </a:solidFill>
              <a:latin typeface="Roboto"/>
              <a:ea typeface="Roboto"/>
              <a:cs typeface="Roboto"/>
              <a:sym typeface="Roboto"/>
            </a:endParaRPr>
          </a:p>
        </p:txBody>
      </p:sp>
      <p:sp>
        <p:nvSpPr>
          <p:cNvPr id="78" name="Google Shape;78;p16"/>
          <p:cNvSpPr txBox="1"/>
          <p:nvPr/>
        </p:nvSpPr>
        <p:spPr>
          <a:xfrm rot="5400000">
            <a:off x="8172775" y="2428800"/>
            <a:ext cx="908100" cy="28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S. Dunn St</a:t>
            </a:r>
            <a:endParaRPr sz="1200">
              <a:solidFill>
                <a:schemeClr val="dk2"/>
              </a:solidFill>
              <a:latin typeface="Roboto"/>
              <a:ea typeface="Roboto"/>
              <a:cs typeface="Roboto"/>
              <a:sym typeface="Roboto"/>
            </a:endParaRPr>
          </a:p>
        </p:txBody>
      </p:sp>
      <p:sp>
        <p:nvSpPr>
          <p:cNvPr id="79" name="Google Shape;79;p16"/>
          <p:cNvSpPr txBox="1"/>
          <p:nvPr/>
        </p:nvSpPr>
        <p:spPr>
          <a:xfrm rot="-5400000">
            <a:off x="4077475" y="2428800"/>
            <a:ext cx="1141200" cy="28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S. Palmer Ave</a:t>
            </a:r>
            <a:endParaRPr sz="1200">
              <a:solidFill>
                <a:schemeClr val="dk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7"/>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381000" lvl="0" marL="914400" rtl="0" algn="l">
              <a:lnSpc>
                <a:spcPct val="150000"/>
              </a:lnSpc>
              <a:spcBef>
                <a:spcPts val="0"/>
              </a:spcBef>
              <a:spcAft>
                <a:spcPts val="0"/>
              </a:spcAft>
              <a:buClr>
                <a:srgbClr val="073763"/>
              </a:buClr>
              <a:buSzPts val="2400"/>
              <a:buFont typeface="Roboto"/>
              <a:buChar char="●"/>
            </a:pPr>
            <a:r>
              <a:rPr lang="en" sz="2400">
                <a:solidFill>
                  <a:srgbClr val="073763"/>
                </a:solidFill>
                <a:latin typeface="Roboto"/>
                <a:ea typeface="Roboto"/>
                <a:cs typeface="Roboto"/>
                <a:sym typeface="Roboto"/>
              </a:rPr>
              <a:t>Area: 0.23 acres</a:t>
            </a:r>
            <a:endParaRPr sz="2400">
              <a:solidFill>
                <a:srgbClr val="073763"/>
              </a:solidFill>
              <a:latin typeface="Roboto"/>
              <a:ea typeface="Roboto"/>
              <a:cs typeface="Roboto"/>
              <a:sym typeface="Roboto"/>
            </a:endParaRPr>
          </a:p>
          <a:p>
            <a:pPr indent="-381000" lvl="0" marL="914400" rtl="0" algn="l">
              <a:lnSpc>
                <a:spcPct val="150000"/>
              </a:lnSpc>
              <a:spcBef>
                <a:spcPts val="0"/>
              </a:spcBef>
              <a:spcAft>
                <a:spcPts val="0"/>
              </a:spcAft>
              <a:buClr>
                <a:srgbClr val="073763"/>
              </a:buClr>
              <a:buSzPts val="2400"/>
              <a:buFont typeface="Roboto"/>
              <a:buChar char="●"/>
            </a:pPr>
            <a:r>
              <a:rPr lang="en" sz="2400">
                <a:solidFill>
                  <a:srgbClr val="073763"/>
                </a:solidFill>
                <a:latin typeface="Roboto"/>
                <a:ea typeface="Roboto"/>
                <a:cs typeface="Roboto"/>
                <a:sym typeface="Roboto"/>
              </a:rPr>
              <a:t>Current Zoning: Residential Small Lot </a:t>
            </a:r>
            <a:r>
              <a:rPr lang="en" sz="2400">
                <a:solidFill>
                  <a:srgbClr val="073763"/>
                </a:solidFill>
                <a:latin typeface="Roboto"/>
                <a:ea typeface="Roboto"/>
                <a:cs typeface="Roboto"/>
                <a:sym typeface="Roboto"/>
              </a:rPr>
              <a:t>(R3)</a:t>
            </a:r>
            <a:endParaRPr sz="2400">
              <a:solidFill>
                <a:srgbClr val="073763"/>
              </a:solidFill>
              <a:latin typeface="Roboto"/>
              <a:ea typeface="Roboto"/>
              <a:cs typeface="Roboto"/>
              <a:sym typeface="Roboto"/>
            </a:endParaRPr>
          </a:p>
          <a:p>
            <a:pPr indent="-381000" lvl="0" marL="914400" rtl="0" algn="l">
              <a:lnSpc>
                <a:spcPct val="150000"/>
              </a:lnSpc>
              <a:spcBef>
                <a:spcPts val="0"/>
              </a:spcBef>
              <a:spcAft>
                <a:spcPts val="0"/>
              </a:spcAft>
              <a:buClr>
                <a:srgbClr val="073763"/>
              </a:buClr>
              <a:buSzPts val="2400"/>
              <a:buFont typeface="Roboto"/>
              <a:buChar char="●"/>
            </a:pPr>
            <a:r>
              <a:rPr lang="en" sz="2400">
                <a:solidFill>
                  <a:srgbClr val="073763"/>
                </a:solidFill>
                <a:latin typeface="Roboto"/>
                <a:ea typeface="Roboto"/>
                <a:cs typeface="Roboto"/>
                <a:sym typeface="Roboto"/>
              </a:rPr>
              <a:t>Existing Land Use: Dwelling, single-family (detached)</a:t>
            </a:r>
            <a:endParaRPr sz="2400">
              <a:solidFill>
                <a:srgbClr val="073763"/>
              </a:solidFill>
              <a:latin typeface="Roboto"/>
              <a:ea typeface="Roboto"/>
              <a:cs typeface="Roboto"/>
              <a:sym typeface="Roboto"/>
            </a:endParaRPr>
          </a:p>
          <a:p>
            <a:pPr indent="-381000" lvl="0" marL="914400" rtl="0" algn="l">
              <a:lnSpc>
                <a:spcPct val="150000"/>
              </a:lnSpc>
              <a:spcBef>
                <a:spcPts val="0"/>
              </a:spcBef>
              <a:spcAft>
                <a:spcPts val="0"/>
              </a:spcAft>
              <a:buClr>
                <a:srgbClr val="073763"/>
              </a:buClr>
              <a:buSzPts val="2400"/>
              <a:buFont typeface="Roboto"/>
              <a:buChar char="●"/>
            </a:pPr>
            <a:r>
              <a:rPr lang="en" sz="2400">
                <a:solidFill>
                  <a:srgbClr val="073763"/>
                </a:solidFill>
                <a:latin typeface="Roboto"/>
                <a:ea typeface="Roboto"/>
                <a:cs typeface="Roboto"/>
                <a:sym typeface="Roboto"/>
              </a:rPr>
              <a:t>Proposed Land Use: Dwelling, duplex</a:t>
            </a:r>
            <a:endParaRPr sz="2400">
              <a:solidFill>
                <a:srgbClr val="073763"/>
              </a:solidFill>
              <a:latin typeface="Roboto"/>
              <a:ea typeface="Roboto"/>
              <a:cs typeface="Roboto"/>
              <a:sym typeface="Roboto"/>
            </a:endParaRPr>
          </a:p>
        </p:txBody>
      </p:sp>
      <p:sp>
        <p:nvSpPr>
          <p:cNvPr id="85" name="Google Shape;85;p17"/>
          <p:cNvSpPr txBox="1"/>
          <p:nvPr>
            <p:ph type="ctrTitle"/>
          </p:nvPr>
        </p:nvSpPr>
        <p:spPr>
          <a:xfrm>
            <a:off x="343550" y="252300"/>
            <a:ext cx="30564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Site Overview</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18"/>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381000" lvl="0" marL="914400" rtl="0" algn="l">
              <a:lnSpc>
                <a:spcPct val="150000"/>
              </a:lnSpc>
              <a:spcBef>
                <a:spcPts val="0"/>
              </a:spcBef>
              <a:spcAft>
                <a:spcPts val="0"/>
              </a:spcAft>
              <a:buClr>
                <a:srgbClr val="073763"/>
              </a:buClr>
              <a:buSzPts val="2400"/>
              <a:buFont typeface="Roboto"/>
              <a:buChar char="●"/>
            </a:pPr>
            <a:r>
              <a:rPr lang="en" sz="2400">
                <a:solidFill>
                  <a:srgbClr val="073763"/>
                </a:solidFill>
                <a:latin typeface="Roboto"/>
                <a:ea typeface="Roboto"/>
                <a:cs typeface="Roboto"/>
                <a:sym typeface="Roboto"/>
              </a:rPr>
              <a:t>Located in </a:t>
            </a:r>
            <a:r>
              <a:rPr lang="en" sz="2400">
                <a:solidFill>
                  <a:srgbClr val="073763"/>
                </a:solidFill>
                <a:latin typeface="Roboto"/>
                <a:ea typeface="Roboto"/>
                <a:cs typeface="Roboto"/>
                <a:sym typeface="Roboto"/>
              </a:rPr>
              <a:t>Bryan Park neighborhood</a:t>
            </a:r>
            <a:endParaRPr sz="2400">
              <a:solidFill>
                <a:srgbClr val="073763"/>
              </a:solidFill>
              <a:latin typeface="Roboto"/>
              <a:ea typeface="Roboto"/>
              <a:cs typeface="Roboto"/>
              <a:sym typeface="Roboto"/>
            </a:endParaRPr>
          </a:p>
          <a:p>
            <a:pPr indent="-381000" lvl="0" marL="914400" rtl="0" algn="l">
              <a:lnSpc>
                <a:spcPct val="150000"/>
              </a:lnSpc>
              <a:spcBef>
                <a:spcPts val="0"/>
              </a:spcBef>
              <a:spcAft>
                <a:spcPts val="0"/>
              </a:spcAft>
              <a:buClr>
                <a:srgbClr val="073763"/>
              </a:buClr>
              <a:buSzPts val="2400"/>
              <a:buFont typeface="Roboto"/>
              <a:buChar char="●"/>
            </a:pPr>
            <a:r>
              <a:rPr lang="en" sz="2400">
                <a:solidFill>
                  <a:srgbClr val="073763"/>
                </a:solidFill>
                <a:latin typeface="Roboto"/>
                <a:ea typeface="Roboto"/>
                <a:cs typeface="Roboto"/>
                <a:sym typeface="Roboto"/>
              </a:rPr>
              <a:t>No historic regulations</a:t>
            </a:r>
            <a:endParaRPr sz="2400">
              <a:solidFill>
                <a:srgbClr val="073763"/>
              </a:solidFill>
              <a:latin typeface="Roboto"/>
              <a:ea typeface="Roboto"/>
              <a:cs typeface="Roboto"/>
              <a:sym typeface="Roboto"/>
            </a:endParaRPr>
          </a:p>
          <a:p>
            <a:pPr indent="-381000" lvl="0" marL="914400" rtl="0" algn="l">
              <a:lnSpc>
                <a:spcPct val="150000"/>
              </a:lnSpc>
              <a:spcBef>
                <a:spcPts val="0"/>
              </a:spcBef>
              <a:spcAft>
                <a:spcPts val="0"/>
              </a:spcAft>
              <a:buClr>
                <a:srgbClr val="073763"/>
              </a:buClr>
              <a:buSzPts val="2400"/>
              <a:buFont typeface="Roboto"/>
              <a:buChar char="●"/>
            </a:pPr>
            <a:r>
              <a:rPr lang="en" sz="2400">
                <a:solidFill>
                  <a:srgbClr val="073763"/>
                </a:solidFill>
                <a:latin typeface="Roboto"/>
                <a:ea typeface="Roboto"/>
                <a:cs typeface="Roboto"/>
                <a:sym typeface="Roboto"/>
              </a:rPr>
              <a:t>No closed canopy on site</a:t>
            </a:r>
            <a:endParaRPr sz="2400">
              <a:solidFill>
                <a:srgbClr val="073763"/>
              </a:solidFill>
              <a:latin typeface="Roboto"/>
              <a:ea typeface="Roboto"/>
              <a:cs typeface="Roboto"/>
              <a:sym typeface="Roboto"/>
            </a:endParaRPr>
          </a:p>
          <a:p>
            <a:pPr indent="-381000" lvl="0" marL="914400" rtl="0" algn="l">
              <a:lnSpc>
                <a:spcPct val="150000"/>
              </a:lnSpc>
              <a:spcBef>
                <a:spcPts val="0"/>
              </a:spcBef>
              <a:spcAft>
                <a:spcPts val="0"/>
              </a:spcAft>
              <a:buClr>
                <a:srgbClr val="073763"/>
              </a:buClr>
              <a:buSzPts val="2400"/>
              <a:buFont typeface="Roboto"/>
              <a:buChar char="●"/>
            </a:pPr>
            <a:r>
              <a:rPr lang="en" sz="2400">
                <a:solidFill>
                  <a:srgbClr val="073763"/>
                </a:solidFill>
                <a:latin typeface="Roboto"/>
                <a:ea typeface="Roboto"/>
                <a:cs typeface="Roboto"/>
                <a:sym typeface="Roboto"/>
              </a:rPr>
              <a:t>Petition presented to Bryan Park and Elm Heights Neighborhood </a:t>
            </a:r>
            <a:r>
              <a:rPr lang="en" sz="2400">
                <a:solidFill>
                  <a:srgbClr val="073763"/>
                </a:solidFill>
                <a:latin typeface="Roboto"/>
                <a:ea typeface="Roboto"/>
                <a:cs typeface="Roboto"/>
                <a:sym typeface="Roboto"/>
              </a:rPr>
              <a:t>Associations</a:t>
            </a:r>
            <a:r>
              <a:rPr lang="en" sz="2400">
                <a:solidFill>
                  <a:srgbClr val="073763"/>
                </a:solidFill>
                <a:latin typeface="Roboto"/>
                <a:ea typeface="Roboto"/>
                <a:cs typeface="Roboto"/>
                <a:sym typeface="Roboto"/>
              </a:rPr>
              <a:t> on May 7, 2026</a:t>
            </a:r>
            <a:endParaRPr sz="2400">
              <a:solidFill>
                <a:srgbClr val="073763"/>
              </a:solidFill>
              <a:latin typeface="Roboto"/>
              <a:ea typeface="Roboto"/>
              <a:cs typeface="Roboto"/>
              <a:sym typeface="Roboto"/>
            </a:endParaRPr>
          </a:p>
        </p:txBody>
      </p:sp>
      <p:sp>
        <p:nvSpPr>
          <p:cNvPr id="91" name="Google Shape;91;p18"/>
          <p:cNvSpPr txBox="1"/>
          <p:nvPr>
            <p:ph type="ctrTitle"/>
          </p:nvPr>
        </p:nvSpPr>
        <p:spPr>
          <a:xfrm>
            <a:off x="343550" y="252300"/>
            <a:ext cx="30564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Site Overview</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19"/>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355600" lvl="0" marL="914400" rtl="0" algn="l">
              <a:lnSpc>
                <a:spcPct val="150000"/>
              </a:lnSpc>
              <a:spcBef>
                <a:spcPts val="0"/>
              </a:spcBef>
              <a:spcAft>
                <a:spcPts val="0"/>
              </a:spcAft>
              <a:buClr>
                <a:srgbClr val="073763"/>
              </a:buClr>
              <a:buSzPts val="2000"/>
              <a:buFont typeface="Roboto"/>
              <a:buChar char="●"/>
            </a:pPr>
            <a:r>
              <a:rPr b="1" lang="en" sz="2000">
                <a:solidFill>
                  <a:srgbClr val="073763"/>
                </a:solidFill>
                <a:latin typeface="Roboto"/>
                <a:ea typeface="Roboto"/>
                <a:cs typeface="Roboto"/>
                <a:sym typeface="Roboto"/>
              </a:rPr>
              <a:t>20.03.030(b)(3)(A)(i): </a:t>
            </a:r>
            <a:r>
              <a:rPr lang="en" sz="2000">
                <a:solidFill>
                  <a:srgbClr val="073763"/>
                </a:solidFill>
                <a:latin typeface="Roboto"/>
                <a:ea typeface="Roboto"/>
                <a:cs typeface="Roboto"/>
                <a:sym typeface="Roboto"/>
              </a:rPr>
              <a:t>No Notices of Violations on file with the Planning and Transportation Department at filing</a:t>
            </a:r>
            <a:endParaRPr sz="2000">
              <a:solidFill>
                <a:srgbClr val="073763"/>
              </a:solidFill>
              <a:latin typeface="Roboto"/>
              <a:ea typeface="Roboto"/>
              <a:cs typeface="Roboto"/>
              <a:sym typeface="Roboto"/>
            </a:endParaRPr>
          </a:p>
          <a:p>
            <a:pPr indent="-355600" lvl="0" marL="914400" rtl="0" algn="l">
              <a:lnSpc>
                <a:spcPct val="150000"/>
              </a:lnSpc>
              <a:spcBef>
                <a:spcPts val="0"/>
              </a:spcBef>
              <a:spcAft>
                <a:spcPts val="0"/>
              </a:spcAft>
              <a:buClr>
                <a:srgbClr val="073763"/>
              </a:buClr>
              <a:buSzPts val="2000"/>
              <a:buFont typeface="Roboto"/>
              <a:buChar char="●"/>
            </a:pPr>
            <a:r>
              <a:rPr b="1" lang="en" sz="2000">
                <a:solidFill>
                  <a:srgbClr val="073763"/>
                </a:solidFill>
                <a:latin typeface="Roboto"/>
                <a:ea typeface="Roboto"/>
                <a:cs typeface="Roboto"/>
                <a:sym typeface="Roboto"/>
              </a:rPr>
              <a:t>20.03.030(b)(3)(B): </a:t>
            </a:r>
            <a:r>
              <a:rPr lang="en" sz="2000">
                <a:solidFill>
                  <a:srgbClr val="073763"/>
                </a:solidFill>
                <a:latin typeface="Roboto"/>
                <a:ea typeface="Roboto"/>
                <a:cs typeface="Roboto"/>
                <a:sym typeface="Roboto"/>
              </a:rPr>
              <a:t>UDO’s definition for “Family” limits no more than 3 unrelated adults living together per unit</a:t>
            </a:r>
            <a:endParaRPr sz="2000">
              <a:solidFill>
                <a:srgbClr val="073763"/>
              </a:solidFill>
              <a:latin typeface="Roboto"/>
              <a:ea typeface="Roboto"/>
              <a:cs typeface="Roboto"/>
              <a:sym typeface="Roboto"/>
            </a:endParaRPr>
          </a:p>
          <a:p>
            <a:pPr indent="-355600" lvl="0" marL="914400" rtl="0" algn="l">
              <a:lnSpc>
                <a:spcPct val="150000"/>
              </a:lnSpc>
              <a:spcBef>
                <a:spcPts val="0"/>
              </a:spcBef>
              <a:spcAft>
                <a:spcPts val="0"/>
              </a:spcAft>
              <a:buClr>
                <a:srgbClr val="073763"/>
              </a:buClr>
              <a:buSzPts val="2000"/>
              <a:buFont typeface="Roboto"/>
              <a:buChar char="●"/>
            </a:pPr>
            <a:r>
              <a:rPr b="1" lang="en" sz="2000">
                <a:solidFill>
                  <a:srgbClr val="073763"/>
                </a:solidFill>
                <a:latin typeface="Roboto"/>
                <a:ea typeface="Roboto"/>
                <a:cs typeface="Roboto"/>
                <a:sym typeface="Roboto"/>
              </a:rPr>
              <a:t>20.03.030(b)(3)(C)(i): </a:t>
            </a:r>
            <a:r>
              <a:rPr lang="en" sz="2000">
                <a:solidFill>
                  <a:srgbClr val="073763"/>
                </a:solidFill>
                <a:latin typeface="Roboto"/>
                <a:ea typeface="Roboto"/>
                <a:cs typeface="Roboto"/>
                <a:sym typeface="Roboto"/>
              </a:rPr>
              <a:t>Each duplex unit has a separate exterior entrance both facing E. Wylie Street to the north</a:t>
            </a:r>
            <a:endParaRPr sz="2000">
              <a:solidFill>
                <a:srgbClr val="073763"/>
              </a:solidFill>
              <a:latin typeface="Roboto"/>
              <a:ea typeface="Roboto"/>
              <a:cs typeface="Roboto"/>
              <a:sym typeface="Roboto"/>
            </a:endParaRPr>
          </a:p>
        </p:txBody>
      </p:sp>
      <p:sp>
        <p:nvSpPr>
          <p:cNvPr id="97" name="Google Shape;97;p19"/>
          <p:cNvSpPr txBox="1"/>
          <p:nvPr>
            <p:ph type="ctrTitle"/>
          </p:nvPr>
        </p:nvSpPr>
        <p:spPr>
          <a:xfrm>
            <a:off x="343550" y="252300"/>
            <a:ext cx="73224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Use-Specific Standards</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pic>
        <p:nvPicPr>
          <p:cNvPr id="102" name="Google Shape;102;p20" title="elevation.jpg"/>
          <p:cNvPicPr preferRelativeResize="0"/>
          <p:nvPr/>
        </p:nvPicPr>
        <p:blipFill>
          <a:blip r:embed="rId4">
            <a:alphaModFix/>
          </a:blip>
          <a:stretch>
            <a:fillRect/>
          </a:stretch>
        </p:blipFill>
        <p:spPr>
          <a:xfrm>
            <a:off x="1883425" y="652125"/>
            <a:ext cx="5377149" cy="3839262"/>
          </a:xfrm>
          <a:prstGeom prst="rect">
            <a:avLst/>
          </a:prstGeom>
          <a:noFill/>
          <a:ln>
            <a:noFill/>
          </a:ln>
        </p:spPr>
      </p:pic>
      <p:sp>
        <p:nvSpPr>
          <p:cNvPr id="103" name="Google Shape;103;p20"/>
          <p:cNvSpPr txBox="1"/>
          <p:nvPr>
            <p:ph type="ctrTitle"/>
          </p:nvPr>
        </p:nvSpPr>
        <p:spPr>
          <a:xfrm>
            <a:off x="343550" y="252300"/>
            <a:ext cx="3118500" cy="12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Current</a:t>
            </a:r>
            <a:endParaRPr b="1" sz="3000">
              <a:solidFill>
                <a:srgbClr val="073763"/>
              </a:solidFill>
              <a:latin typeface="Roboto"/>
              <a:ea typeface="Roboto"/>
              <a:cs typeface="Roboto"/>
              <a:sym typeface="Roboto"/>
            </a:endParaRPr>
          </a:p>
          <a:p>
            <a:pPr indent="0" lvl="0" marL="0" rtl="0" algn="l">
              <a:spcBef>
                <a:spcPts val="0"/>
              </a:spcBef>
              <a:spcAft>
                <a:spcPts val="0"/>
              </a:spcAft>
              <a:buNone/>
            </a:pPr>
            <a:r>
              <a:rPr b="1" lang="en" sz="3000">
                <a:solidFill>
                  <a:srgbClr val="073763"/>
                </a:solidFill>
                <a:latin typeface="Roboto"/>
                <a:ea typeface="Roboto"/>
                <a:cs typeface="Roboto"/>
                <a:sym typeface="Roboto"/>
              </a:rPr>
              <a:t>Elevations</a:t>
            </a:r>
            <a:endParaRPr b="1" sz="3000">
              <a:solidFill>
                <a:srgbClr val="073763"/>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21"/>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355600" lvl="0" marL="914400" rtl="0" algn="l">
              <a:lnSpc>
                <a:spcPct val="150000"/>
              </a:lnSpc>
              <a:spcBef>
                <a:spcPts val="0"/>
              </a:spcBef>
              <a:spcAft>
                <a:spcPts val="0"/>
              </a:spcAft>
              <a:buClr>
                <a:srgbClr val="073763"/>
              </a:buClr>
              <a:buSzPts val="2000"/>
              <a:buFont typeface="Roboto"/>
              <a:buChar char="●"/>
            </a:pPr>
            <a:r>
              <a:rPr b="1" lang="en" sz="2000">
                <a:solidFill>
                  <a:srgbClr val="073763"/>
                </a:solidFill>
                <a:latin typeface="Roboto"/>
                <a:ea typeface="Roboto"/>
                <a:cs typeface="Roboto"/>
                <a:sym typeface="Roboto"/>
              </a:rPr>
              <a:t>20.03.030(b)(3)(C)(ii): </a:t>
            </a:r>
            <a:r>
              <a:rPr lang="en" sz="2000">
                <a:solidFill>
                  <a:srgbClr val="073763"/>
                </a:solidFill>
                <a:latin typeface="Roboto"/>
                <a:ea typeface="Roboto"/>
                <a:cs typeface="Roboto"/>
                <a:sym typeface="Roboto"/>
              </a:rPr>
              <a:t>Four design elements are </a:t>
            </a:r>
            <a:r>
              <a:rPr lang="en" sz="2000">
                <a:solidFill>
                  <a:srgbClr val="073763"/>
                </a:solidFill>
                <a:latin typeface="Roboto"/>
                <a:ea typeface="Roboto"/>
                <a:cs typeface="Roboto"/>
                <a:sym typeface="Roboto"/>
              </a:rPr>
              <a:t>similar</a:t>
            </a:r>
            <a:r>
              <a:rPr lang="en" sz="2000">
                <a:solidFill>
                  <a:srgbClr val="073763"/>
                </a:solidFill>
                <a:latin typeface="Roboto"/>
                <a:ea typeface="Roboto"/>
                <a:cs typeface="Roboto"/>
                <a:sym typeface="Roboto"/>
              </a:rPr>
              <a:t> in general shape, size, and design with the majority of existing structure on the same block face</a:t>
            </a:r>
            <a:endParaRPr sz="2000">
              <a:solidFill>
                <a:srgbClr val="073763"/>
              </a:solidFill>
              <a:latin typeface="Roboto"/>
              <a:ea typeface="Roboto"/>
              <a:cs typeface="Roboto"/>
              <a:sym typeface="Roboto"/>
            </a:endParaRPr>
          </a:p>
          <a:p>
            <a:pPr indent="-355600" lvl="1" marL="1371600" rtl="0" algn="l">
              <a:lnSpc>
                <a:spcPct val="150000"/>
              </a:lnSpc>
              <a:spcBef>
                <a:spcPts val="0"/>
              </a:spcBef>
              <a:spcAft>
                <a:spcPts val="0"/>
              </a:spcAft>
              <a:buClr>
                <a:srgbClr val="073763"/>
              </a:buClr>
              <a:buSzPts val="2000"/>
              <a:buFont typeface="Roboto"/>
              <a:buChar char="○"/>
            </a:pPr>
            <a:r>
              <a:rPr lang="en" sz="2000">
                <a:solidFill>
                  <a:srgbClr val="073763"/>
                </a:solidFill>
                <a:latin typeface="Roboto"/>
                <a:ea typeface="Roboto"/>
                <a:cs typeface="Roboto"/>
                <a:sym typeface="Roboto"/>
              </a:rPr>
              <a:t>Roof Pitch</a:t>
            </a:r>
            <a:endParaRPr sz="2000">
              <a:solidFill>
                <a:srgbClr val="073763"/>
              </a:solidFill>
              <a:latin typeface="Roboto"/>
              <a:ea typeface="Roboto"/>
              <a:cs typeface="Roboto"/>
              <a:sym typeface="Roboto"/>
            </a:endParaRPr>
          </a:p>
          <a:p>
            <a:pPr indent="-355600" lvl="1" marL="1371600" rtl="0" algn="l">
              <a:lnSpc>
                <a:spcPct val="150000"/>
              </a:lnSpc>
              <a:spcBef>
                <a:spcPts val="0"/>
              </a:spcBef>
              <a:spcAft>
                <a:spcPts val="0"/>
              </a:spcAft>
              <a:buClr>
                <a:srgbClr val="073763"/>
              </a:buClr>
              <a:buSzPts val="2000"/>
              <a:buFont typeface="Roboto"/>
              <a:buChar char="○"/>
            </a:pPr>
            <a:r>
              <a:rPr lang="en" sz="2000">
                <a:solidFill>
                  <a:srgbClr val="073763"/>
                </a:solidFill>
                <a:latin typeface="Roboto"/>
                <a:ea typeface="Roboto"/>
                <a:cs typeface="Roboto"/>
                <a:sym typeface="Roboto"/>
              </a:rPr>
              <a:t>Front Porch Width and Depth</a:t>
            </a:r>
            <a:endParaRPr sz="2000">
              <a:solidFill>
                <a:srgbClr val="073763"/>
              </a:solidFill>
              <a:latin typeface="Roboto"/>
              <a:ea typeface="Roboto"/>
              <a:cs typeface="Roboto"/>
              <a:sym typeface="Roboto"/>
            </a:endParaRPr>
          </a:p>
          <a:p>
            <a:pPr indent="-355600" lvl="1" marL="1371600" rtl="0" algn="l">
              <a:lnSpc>
                <a:spcPct val="150000"/>
              </a:lnSpc>
              <a:spcBef>
                <a:spcPts val="0"/>
              </a:spcBef>
              <a:spcAft>
                <a:spcPts val="0"/>
              </a:spcAft>
              <a:buClr>
                <a:srgbClr val="073763"/>
              </a:buClr>
              <a:buSzPts val="2000"/>
              <a:buFont typeface="Roboto"/>
              <a:buChar char="○"/>
            </a:pPr>
            <a:r>
              <a:rPr lang="en" sz="2000">
                <a:solidFill>
                  <a:srgbClr val="073763"/>
                </a:solidFill>
                <a:latin typeface="Roboto"/>
                <a:ea typeface="Roboto"/>
                <a:cs typeface="Roboto"/>
                <a:sym typeface="Roboto"/>
              </a:rPr>
              <a:t>Front Building Setback</a:t>
            </a:r>
            <a:endParaRPr sz="2000">
              <a:solidFill>
                <a:srgbClr val="073763"/>
              </a:solidFill>
              <a:latin typeface="Roboto"/>
              <a:ea typeface="Roboto"/>
              <a:cs typeface="Roboto"/>
              <a:sym typeface="Roboto"/>
            </a:endParaRPr>
          </a:p>
          <a:p>
            <a:pPr indent="-355600" lvl="1" marL="1371600" rtl="0" algn="l">
              <a:lnSpc>
                <a:spcPct val="150000"/>
              </a:lnSpc>
              <a:spcBef>
                <a:spcPts val="0"/>
              </a:spcBef>
              <a:spcAft>
                <a:spcPts val="0"/>
              </a:spcAft>
              <a:buClr>
                <a:srgbClr val="073763"/>
              </a:buClr>
              <a:buSzPts val="2000"/>
              <a:buFont typeface="Roboto"/>
              <a:buChar char="○"/>
            </a:pPr>
            <a:r>
              <a:rPr lang="en" sz="2000">
                <a:solidFill>
                  <a:srgbClr val="073763"/>
                </a:solidFill>
                <a:latin typeface="Roboto"/>
                <a:ea typeface="Roboto"/>
                <a:cs typeface="Roboto"/>
                <a:sym typeface="Roboto"/>
              </a:rPr>
              <a:t>Vehicle Parking Access</a:t>
            </a:r>
            <a:endParaRPr sz="2000">
              <a:solidFill>
                <a:srgbClr val="073763"/>
              </a:solidFill>
              <a:latin typeface="Roboto"/>
              <a:ea typeface="Roboto"/>
              <a:cs typeface="Roboto"/>
              <a:sym typeface="Roboto"/>
            </a:endParaRPr>
          </a:p>
        </p:txBody>
      </p:sp>
      <p:sp>
        <p:nvSpPr>
          <p:cNvPr id="109" name="Google Shape;109;p21"/>
          <p:cNvSpPr txBox="1"/>
          <p:nvPr>
            <p:ph type="ctrTitle"/>
          </p:nvPr>
        </p:nvSpPr>
        <p:spPr>
          <a:xfrm>
            <a:off x="343550" y="252300"/>
            <a:ext cx="73224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Use-Specific Standards</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pic>
        <p:nvPicPr>
          <p:cNvPr id="114" name="Google Shape;114;p22" title="Screenshot 2026-06-25 093421.jpg"/>
          <p:cNvPicPr preferRelativeResize="0"/>
          <p:nvPr/>
        </p:nvPicPr>
        <p:blipFill rotWithShape="1">
          <a:blip r:embed="rId4">
            <a:alphaModFix/>
          </a:blip>
          <a:srcRect b="0" l="0" r="0" t="0"/>
          <a:stretch/>
        </p:blipFill>
        <p:spPr>
          <a:xfrm>
            <a:off x="304262" y="1060063"/>
            <a:ext cx="8535475" cy="3023375"/>
          </a:xfrm>
          <a:prstGeom prst="rect">
            <a:avLst/>
          </a:prstGeom>
          <a:noFill/>
          <a:ln>
            <a:noFill/>
          </a:ln>
        </p:spPr>
      </p:pic>
      <p:sp>
        <p:nvSpPr>
          <p:cNvPr id="115" name="Google Shape;115;p22"/>
          <p:cNvSpPr txBox="1"/>
          <p:nvPr>
            <p:ph type="ctrTitle"/>
          </p:nvPr>
        </p:nvSpPr>
        <p:spPr>
          <a:xfrm>
            <a:off x="343550" y="252300"/>
            <a:ext cx="22233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Block Face</a:t>
            </a:r>
            <a:endParaRPr sz="1200"/>
          </a:p>
        </p:txBody>
      </p:sp>
      <p:sp>
        <p:nvSpPr>
          <p:cNvPr id="116" name="Google Shape;116;p22"/>
          <p:cNvSpPr txBox="1"/>
          <p:nvPr/>
        </p:nvSpPr>
        <p:spPr>
          <a:xfrm rot="-5400000">
            <a:off x="52575" y="2428800"/>
            <a:ext cx="944100" cy="28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S. Grant St</a:t>
            </a:r>
            <a:endParaRPr sz="1200">
              <a:solidFill>
                <a:schemeClr val="dk2"/>
              </a:solidFill>
              <a:latin typeface="Roboto"/>
              <a:ea typeface="Roboto"/>
              <a:cs typeface="Roboto"/>
              <a:sym typeface="Roboto"/>
            </a:endParaRPr>
          </a:p>
        </p:txBody>
      </p:sp>
      <p:sp>
        <p:nvSpPr>
          <p:cNvPr id="117" name="Google Shape;117;p22"/>
          <p:cNvSpPr txBox="1"/>
          <p:nvPr/>
        </p:nvSpPr>
        <p:spPr>
          <a:xfrm rot="5400000">
            <a:off x="8172775" y="2428800"/>
            <a:ext cx="908100" cy="28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S. Dunn St</a:t>
            </a:r>
            <a:endParaRPr sz="1200">
              <a:solidFill>
                <a:schemeClr val="dk2"/>
              </a:solidFill>
              <a:latin typeface="Roboto"/>
              <a:ea typeface="Roboto"/>
              <a:cs typeface="Roboto"/>
              <a:sym typeface="Roboto"/>
            </a:endParaRPr>
          </a:p>
        </p:txBody>
      </p:sp>
      <p:cxnSp>
        <p:nvCxnSpPr>
          <p:cNvPr id="118" name="Google Shape;118;p22"/>
          <p:cNvCxnSpPr/>
          <p:nvPr/>
        </p:nvCxnSpPr>
        <p:spPr>
          <a:xfrm>
            <a:off x="609975" y="1409525"/>
            <a:ext cx="7921200" cy="24600"/>
          </a:xfrm>
          <a:prstGeom prst="straightConnector1">
            <a:avLst/>
          </a:prstGeom>
          <a:noFill/>
          <a:ln cap="flat" cmpd="sng" w="38100">
            <a:solidFill>
              <a:srgbClr val="FFFF00"/>
            </a:solidFill>
            <a:prstDash val="solid"/>
            <a:round/>
            <a:headEnd len="med" w="med" type="triangl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 name="Shape 122"/>
        <p:cNvGrpSpPr/>
        <p:nvPr/>
      </p:nvGrpSpPr>
      <p:grpSpPr>
        <a:xfrm>
          <a:off x="0" y="0"/>
          <a:ext cx="0" cy="0"/>
          <a:chOff x="0" y="0"/>
          <a:chExt cx="0" cy="0"/>
        </a:xfrm>
      </p:grpSpPr>
      <p:sp>
        <p:nvSpPr>
          <p:cNvPr id="123" name="Google Shape;123;p23"/>
          <p:cNvSpPr txBox="1"/>
          <p:nvPr>
            <p:ph type="ctrTitle"/>
          </p:nvPr>
        </p:nvSpPr>
        <p:spPr>
          <a:xfrm>
            <a:off x="343550" y="252300"/>
            <a:ext cx="52908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Existing Conditions</a:t>
            </a:r>
            <a:endParaRPr sz="1200"/>
          </a:p>
        </p:txBody>
      </p:sp>
      <p:pic>
        <p:nvPicPr>
          <p:cNvPr id="124" name="Google Shape;124;p23" title="IMG_0021.jpeg"/>
          <p:cNvPicPr preferRelativeResize="0"/>
          <p:nvPr/>
        </p:nvPicPr>
        <p:blipFill>
          <a:blip r:embed="rId4">
            <a:alphaModFix/>
          </a:blip>
          <a:stretch>
            <a:fillRect/>
          </a:stretch>
        </p:blipFill>
        <p:spPr>
          <a:xfrm>
            <a:off x="343550" y="1208413"/>
            <a:ext cx="4163026" cy="3122273"/>
          </a:xfrm>
          <a:prstGeom prst="rect">
            <a:avLst/>
          </a:prstGeom>
          <a:noFill/>
          <a:ln>
            <a:noFill/>
          </a:ln>
        </p:spPr>
      </p:pic>
      <p:pic>
        <p:nvPicPr>
          <p:cNvPr id="125" name="Google Shape;125;p23" title="IMG_0019.jpeg"/>
          <p:cNvPicPr preferRelativeResize="0"/>
          <p:nvPr/>
        </p:nvPicPr>
        <p:blipFill>
          <a:blip r:embed="rId5">
            <a:alphaModFix/>
          </a:blip>
          <a:stretch>
            <a:fillRect/>
          </a:stretch>
        </p:blipFill>
        <p:spPr>
          <a:xfrm>
            <a:off x="4619100" y="1208413"/>
            <a:ext cx="4163026" cy="3122269"/>
          </a:xfrm>
          <a:prstGeom prst="rect">
            <a:avLst/>
          </a:prstGeom>
          <a:noFill/>
          <a:ln>
            <a:noFill/>
          </a:ln>
        </p:spPr>
      </p:pic>
      <p:sp>
        <p:nvSpPr>
          <p:cNvPr id="126" name="Google Shape;126;p23"/>
          <p:cNvSpPr txBox="1"/>
          <p:nvPr/>
        </p:nvSpPr>
        <p:spPr>
          <a:xfrm>
            <a:off x="500200" y="1349050"/>
            <a:ext cx="1601400" cy="282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View from E Wylie St</a:t>
            </a:r>
            <a:endParaRPr sz="1200">
              <a:solidFill>
                <a:schemeClr val="dk2"/>
              </a:solidFill>
              <a:latin typeface="Roboto"/>
              <a:ea typeface="Roboto"/>
              <a:cs typeface="Roboto"/>
              <a:sym typeface="Roboto"/>
            </a:endParaRPr>
          </a:p>
        </p:txBody>
      </p:sp>
      <p:sp>
        <p:nvSpPr>
          <p:cNvPr id="127" name="Google Shape;127;p23"/>
          <p:cNvSpPr txBox="1"/>
          <p:nvPr/>
        </p:nvSpPr>
        <p:spPr>
          <a:xfrm>
            <a:off x="4797550" y="1349050"/>
            <a:ext cx="1967100" cy="282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View of undeveloped alley</a:t>
            </a:r>
            <a:endParaRPr sz="1200">
              <a:solidFill>
                <a:schemeClr val="dk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 name="Shape 131"/>
        <p:cNvGrpSpPr/>
        <p:nvPr/>
      </p:nvGrpSpPr>
      <p:grpSpPr>
        <a:xfrm>
          <a:off x="0" y="0"/>
          <a:ext cx="0" cy="0"/>
          <a:chOff x="0" y="0"/>
          <a:chExt cx="0" cy="0"/>
        </a:xfrm>
      </p:grpSpPr>
      <p:sp>
        <p:nvSpPr>
          <p:cNvPr id="132" name="Google Shape;132;p24"/>
          <p:cNvSpPr txBox="1"/>
          <p:nvPr/>
        </p:nvSpPr>
        <p:spPr>
          <a:xfrm>
            <a:off x="343550" y="1320100"/>
            <a:ext cx="4228500" cy="3339000"/>
          </a:xfrm>
          <a:prstGeom prst="rect">
            <a:avLst/>
          </a:prstGeom>
          <a:noFill/>
          <a:ln>
            <a:noFill/>
          </a:ln>
        </p:spPr>
        <p:txBody>
          <a:bodyPr anchorCtr="0" anchor="t" bIns="91425" lIns="91425" spcFirstLastPara="1" rIns="91425" wrap="square" tIns="91425">
            <a:noAutofit/>
          </a:bodyPr>
          <a:lstStyle/>
          <a:p>
            <a:pPr indent="-355600" lvl="0" marL="457200" rtl="0" algn="l">
              <a:lnSpc>
                <a:spcPct val="150000"/>
              </a:lnSpc>
              <a:spcBef>
                <a:spcPts val="0"/>
              </a:spcBef>
              <a:spcAft>
                <a:spcPts val="0"/>
              </a:spcAft>
              <a:buClr>
                <a:srgbClr val="073763"/>
              </a:buClr>
              <a:buSzPts val="2000"/>
              <a:buFont typeface="Roboto"/>
              <a:buChar char="●"/>
            </a:pPr>
            <a:r>
              <a:rPr b="1" lang="en" sz="2000">
                <a:solidFill>
                  <a:srgbClr val="073763"/>
                </a:solidFill>
                <a:latin typeface="Roboto"/>
                <a:ea typeface="Roboto"/>
                <a:cs typeface="Roboto"/>
                <a:sym typeface="Roboto"/>
              </a:rPr>
              <a:t>20.03.030(b)(3)(C)(iii): </a:t>
            </a:r>
            <a:r>
              <a:rPr lang="en" sz="2000">
                <a:solidFill>
                  <a:srgbClr val="073763"/>
                </a:solidFill>
                <a:latin typeface="Roboto"/>
                <a:ea typeface="Roboto"/>
                <a:cs typeface="Roboto"/>
                <a:sym typeface="Roboto"/>
              </a:rPr>
              <a:t>Six bedrooms maximum</a:t>
            </a:r>
            <a:endParaRPr sz="2000">
              <a:solidFill>
                <a:srgbClr val="073763"/>
              </a:solidFill>
              <a:latin typeface="Roboto"/>
              <a:ea typeface="Roboto"/>
              <a:cs typeface="Roboto"/>
              <a:sym typeface="Roboto"/>
            </a:endParaRPr>
          </a:p>
          <a:p>
            <a:pPr indent="-355600" lvl="0" marL="457200" rtl="0" algn="l">
              <a:lnSpc>
                <a:spcPct val="150000"/>
              </a:lnSpc>
              <a:spcBef>
                <a:spcPts val="0"/>
              </a:spcBef>
              <a:spcAft>
                <a:spcPts val="0"/>
              </a:spcAft>
              <a:buClr>
                <a:srgbClr val="073763"/>
              </a:buClr>
              <a:buSzPts val="2000"/>
              <a:buFont typeface="Roboto"/>
              <a:buChar char="●"/>
            </a:pPr>
            <a:r>
              <a:rPr b="1" lang="en" sz="2000">
                <a:solidFill>
                  <a:srgbClr val="073763"/>
                </a:solidFill>
                <a:latin typeface="Roboto"/>
                <a:ea typeface="Roboto"/>
                <a:cs typeface="Roboto"/>
                <a:sym typeface="Roboto"/>
              </a:rPr>
              <a:t>20.03.030(b)(3)(D): </a:t>
            </a:r>
            <a:r>
              <a:rPr lang="en" sz="2000">
                <a:solidFill>
                  <a:srgbClr val="073763"/>
                </a:solidFill>
                <a:latin typeface="Roboto"/>
                <a:ea typeface="Roboto"/>
                <a:cs typeface="Roboto"/>
                <a:sym typeface="Roboto"/>
              </a:rPr>
              <a:t>Not within the 150 foot buffer limit</a:t>
            </a:r>
            <a:endParaRPr sz="2000">
              <a:solidFill>
                <a:srgbClr val="073763"/>
              </a:solidFill>
              <a:latin typeface="Roboto"/>
              <a:ea typeface="Roboto"/>
              <a:cs typeface="Roboto"/>
              <a:sym typeface="Roboto"/>
            </a:endParaRPr>
          </a:p>
          <a:p>
            <a:pPr indent="-355600" lvl="0" marL="457200" rtl="0" algn="l">
              <a:lnSpc>
                <a:spcPct val="150000"/>
              </a:lnSpc>
              <a:spcBef>
                <a:spcPts val="0"/>
              </a:spcBef>
              <a:spcAft>
                <a:spcPts val="0"/>
              </a:spcAft>
              <a:buClr>
                <a:srgbClr val="073763"/>
              </a:buClr>
              <a:buSzPts val="2000"/>
              <a:buFont typeface="Roboto"/>
              <a:buChar char="●"/>
            </a:pPr>
            <a:r>
              <a:rPr b="1" lang="en" sz="2000">
                <a:solidFill>
                  <a:srgbClr val="073763"/>
                </a:solidFill>
                <a:latin typeface="Roboto"/>
                <a:ea typeface="Roboto"/>
                <a:cs typeface="Roboto"/>
                <a:sym typeface="Roboto"/>
              </a:rPr>
              <a:t>20.03.030(b)(3)(E):</a:t>
            </a:r>
            <a:r>
              <a:rPr lang="en" sz="2000">
                <a:solidFill>
                  <a:srgbClr val="073763"/>
                </a:solidFill>
                <a:latin typeface="Roboto"/>
                <a:ea typeface="Roboto"/>
                <a:cs typeface="Roboto"/>
                <a:sym typeface="Roboto"/>
              </a:rPr>
              <a:t> Maximum number of 15 allowed duplexes per year not exceeded</a:t>
            </a:r>
            <a:endParaRPr sz="2000">
              <a:solidFill>
                <a:srgbClr val="073763"/>
              </a:solidFill>
              <a:latin typeface="Roboto"/>
              <a:ea typeface="Roboto"/>
              <a:cs typeface="Roboto"/>
              <a:sym typeface="Roboto"/>
            </a:endParaRPr>
          </a:p>
        </p:txBody>
      </p:sp>
      <p:sp>
        <p:nvSpPr>
          <p:cNvPr id="133" name="Google Shape;133;p24"/>
          <p:cNvSpPr txBox="1"/>
          <p:nvPr>
            <p:ph type="ctrTitle"/>
          </p:nvPr>
        </p:nvSpPr>
        <p:spPr>
          <a:xfrm>
            <a:off x="343550" y="252300"/>
            <a:ext cx="73224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Use-Specific Standards</a:t>
            </a:r>
            <a:endParaRPr sz="1200"/>
          </a:p>
        </p:txBody>
      </p:sp>
      <p:pic>
        <p:nvPicPr>
          <p:cNvPr id="134" name="Google Shape;134;p24" title="buffer.jpg"/>
          <p:cNvPicPr preferRelativeResize="0"/>
          <p:nvPr/>
        </p:nvPicPr>
        <p:blipFill>
          <a:blip r:embed="rId4">
            <a:alphaModFix/>
          </a:blip>
          <a:stretch>
            <a:fillRect/>
          </a:stretch>
        </p:blipFill>
        <p:spPr>
          <a:xfrm>
            <a:off x="4727500" y="1320100"/>
            <a:ext cx="3729600" cy="2893650"/>
          </a:xfrm>
          <a:prstGeom prst="rect">
            <a:avLst/>
          </a:prstGeom>
          <a:noFill/>
          <a:ln>
            <a:noFill/>
          </a:ln>
        </p:spPr>
      </p:pic>
      <p:sp>
        <p:nvSpPr>
          <p:cNvPr id="135" name="Google Shape;135;p24"/>
          <p:cNvSpPr/>
          <p:nvPr/>
        </p:nvSpPr>
        <p:spPr>
          <a:xfrm>
            <a:off x="6684900" y="2398650"/>
            <a:ext cx="346200" cy="783000"/>
          </a:xfrm>
          <a:prstGeom prst="rect">
            <a:avLst/>
          </a:prstGeom>
          <a:noFill/>
          <a:ln cap="flat" cmpd="sng" w="28575">
            <a:solidFill>
              <a:srgbClr val="27AAE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25"/>
          <p:cNvSpPr txBox="1"/>
          <p:nvPr/>
        </p:nvSpPr>
        <p:spPr>
          <a:xfrm>
            <a:off x="343550" y="987000"/>
            <a:ext cx="8344200" cy="367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300">
                <a:solidFill>
                  <a:srgbClr val="073763"/>
                </a:solidFill>
                <a:latin typeface="Roboto"/>
                <a:ea typeface="Roboto"/>
                <a:cs typeface="Roboto"/>
                <a:sym typeface="Roboto"/>
              </a:rPr>
              <a:t>20.06.040(d)(6)(B) General Compliance Criteria</a:t>
            </a:r>
            <a:endParaRPr b="1" sz="1300">
              <a:solidFill>
                <a:srgbClr val="073763"/>
              </a:solidFill>
              <a:latin typeface="Roboto"/>
              <a:ea typeface="Roboto"/>
              <a:cs typeface="Roboto"/>
              <a:sym typeface="Roboto"/>
            </a:endParaRPr>
          </a:p>
          <a:p>
            <a:pPr indent="0" lvl="0" marL="0" rtl="0" algn="l">
              <a:lnSpc>
                <a:spcPct val="115000"/>
              </a:lnSpc>
              <a:spcBef>
                <a:spcPts val="0"/>
              </a:spcBef>
              <a:spcAft>
                <a:spcPts val="0"/>
              </a:spcAft>
              <a:buNone/>
            </a:pPr>
            <a:r>
              <a:rPr lang="en" sz="1300" u="sng">
                <a:solidFill>
                  <a:srgbClr val="073763"/>
                </a:solidFill>
                <a:latin typeface="Roboto"/>
                <a:ea typeface="Roboto"/>
                <a:cs typeface="Roboto"/>
                <a:sym typeface="Roboto"/>
              </a:rPr>
              <a:t>Proposed Finding:</a:t>
            </a:r>
            <a:r>
              <a:rPr lang="en" sz="1300">
                <a:solidFill>
                  <a:srgbClr val="073763"/>
                </a:solidFill>
                <a:latin typeface="Roboto"/>
                <a:ea typeface="Roboto"/>
                <a:cs typeface="Roboto"/>
                <a:sym typeface="Roboto"/>
              </a:rPr>
              <a:t> There are Use-Specific Standards outlined in UDO Section 20.03.030(b)(3) that apply to the use “Dwelling, Duplex” within the R3 zoning district, and this petition meets those standards as described above. At the time of their application, the property owner did not have any Notices of Violation on file in the Planning and Transportation Department, and occupancy of each dwelling unit is subject to the definition of “Family” in the UDO. Each duplex unit has a separate exterior entrance with both entrances facing E. Wylie Street to the north. The four design elements were evaluated by staff and found to be similar in general shape, size, and design with the majority of existing single-family or duplex structures on the same block face. Each dwelling unit has 3 bedrooms, which meets the maximum 6 bedroom limitation, and there are no other duplexes within a 150 foot buffer of the site. The petitioner did attend the joint Bryan Park and Elm Heights Neighborhood Associations meeting on May 7, 2026 and presented this petition as required. There are no known other applicable regulations for this petition. Water service and sanitary connection will need to be coordinated with City of Bloomington Utilities, and electrical service will need to be coordinated with Duke Energy. There is adequate capacity in the City’s water and sewer systems to serve the location, and there are no known prior land use approvals for this site.</a:t>
            </a:r>
            <a:endParaRPr sz="1300">
              <a:solidFill>
                <a:srgbClr val="073763"/>
              </a:solidFill>
              <a:latin typeface="Roboto"/>
              <a:ea typeface="Roboto"/>
              <a:cs typeface="Roboto"/>
              <a:sym typeface="Roboto"/>
            </a:endParaRPr>
          </a:p>
        </p:txBody>
      </p:sp>
      <p:sp>
        <p:nvSpPr>
          <p:cNvPr id="141" name="Google Shape;141;p25"/>
          <p:cNvSpPr txBox="1"/>
          <p:nvPr>
            <p:ph type="ctrTitle"/>
          </p:nvPr>
        </p:nvSpPr>
        <p:spPr>
          <a:xfrm>
            <a:off x="343550" y="252300"/>
            <a:ext cx="83442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Criteria and Findings for Conditional Use Permit</a:t>
            </a:r>
            <a:endParaRPr sz="2800">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sp>
        <p:nvSpPr>
          <p:cNvPr id="146" name="Google Shape;146;p26"/>
          <p:cNvSpPr txBox="1"/>
          <p:nvPr/>
        </p:nvSpPr>
        <p:spPr>
          <a:xfrm>
            <a:off x="343550" y="987000"/>
            <a:ext cx="8344200" cy="367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700">
                <a:solidFill>
                  <a:srgbClr val="073763"/>
                </a:solidFill>
                <a:latin typeface="Roboto"/>
                <a:ea typeface="Roboto"/>
                <a:cs typeface="Roboto"/>
                <a:sym typeface="Roboto"/>
              </a:rPr>
              <a:t>20.06.040(d)(6)(C) </a:t>
            </a:r>
            <a:r>
              <a:rPr b="1" lang="en" sz="1700">
                <a:solidFill>
                  <a:srgbClr val="073763"/>
                </a:solidFill>
                <a:latin typeface="Roboto"/>
                <a:ea typeface="Roboto"/>
                <a:cs typeface="Roboto"/>
                <a:sym typeface="Roboto"/>
              </a:rPr>
              <a:t>Additional Criteria Applicable to Conditional Uses</a:t>
            </a:r>
            <a:endParaRPr b="1" sz="1700">
              <a:solidFill>
                <a:srgbClr val="073763"/>
              </a:solidFill>
              <a:latin typeface="Roboto"/>
              <a:ea typeface="Roboto"/>
              <a:cs typeface="Roboto"/>
              <a:sym typeface="Roboto"/>
            </a:endParaRPr>
          </a:p>
          <a:p>
            <a:pPr indent="0" lvl="0" marL="0" rtl="0" algn="l">
              <a:lnSpc>
                <a:spcPct val="115000"/>
              </a:lnSpc>
              <a:spcBef>
                <a:spcPts val="0"/>
              </a:spcBef>
              <a:spcAft>
                <a:spcPts val="0"/>
              </a:spcAft>
              <a:buNone/>
            </a:pPr>
            <a:r>
              <a:rPr b="1" lang="en" sz="1700">
                <a:solidFill>
                  <a:srgbClr val="073763"/>
                </a:solidFill>
                <a:latin typeface="Roboto"/>
                <a:ea typeface="Roboto"/>
                <a:cs typeface="Roboto"/>
                <a:sym typeface="Roboto"/>
              </a:rPr>
              <a:t>i</a:t>
            </a:r>
            <a:r>
              <a:rPr b="1" lang="en" sz="1700">
                <a:solidFill>
                  <a:srgbClr val="073763"/>
                </a:solidFill>
                <a:latin typeface="Roboto"/>
                <a:ea typeface="Roboto"/>
                <a:cs typeface="Roboto"/>
                <a:sym typeface="Roboto"/>
              </a:rPr>
              <a:t>. Consistency with Comprehensive Plan and Other Applicable Plans</a:t>
            </a:r>
            <a:endParaRPr b="1" sz="1700">
              <a:solidFill>
                <a:srgbClr val="073763"/>
              </a:solidFill>
              <a:latin typeface="Roboto"/>
              <a:ea typeface="Roboto"/>
              <a:cs typeface="Roboto"/>
              <a:sym typeface="Roboto"/>
            </a:endParaRPr>
          </a:p>
          <a:p>
            <a:pPr indent="0" lvl="0" marL="0" rtl="0" algn="l">
              <a:lnSpc>
                <a:spcPct val="115000"/>
              </a:lnSpc>
              <a:spcBef>
                <a:spcPts val="0"/>
              </a:spcBef>
              <a:spcAft>
                <a:spcPts val="0"/>
              </a:spcAft>
              <a:buNone/>
            </a:pPr>
            <a:r>
              <a:rPr lang="en" sz="1700" u="sng">
                <a:solidFill>
                  <a:srgbClr val="073763"/>
                </a:solidFill>
                <a:latin typeface="Roboto"/>
                <a:ea typeface="Roboto"/>
                <a:cs typeface="Roboto"/>
                <a:sym typeface="Roboto"/>
              </a:rPr>
              <a:t>Proposed Finding:</a:t>
            </a:r>
            <a:r>
              <a:rPr lang="en" sz="1700">
                <a:solidFill>
                  <a:srgbClr val="073763"/>
                </a:solidFill>
                <a:latin typeface="Roboto"/>
                <a:ea typeface="Roboto"/>
                <a:cs typeface="Roboto"/>
                <a:sym typeface="Roboto"/>
              </a:rPr>
              <a:t> This proposal is in line with the goals of the Comprehensive Plan. In the Future Land Use Map, this area is identified as the “Mixed Urban Residential” land use category. The Comprehensive Plan states that the Mixed Urban Residential land use category “refers to older neighborhoods that were developed using a traditional block and grid-like street pattern.” Additionally, Policy 5.3.1 encourages opportunities for infill and redevelopment across the City of Bloomington with consideration for increased residential densities and underutilized housing types such as duplexes. The construction of a duplex at this location accomplishes many of the goals within the Comprehensive Plan including infill development and the incorporation of a mix of housing types within the community.</a:t>
            </a:r>
            <a:endParaRPr sz="1700">
              <a:solidFill>
                <a:srgbClr val="073763"/>
              </a:solidFill>
              <a:latin typeface="Roboto"/>
              <a:ea typeface="Roboto"/>
              <a:cs typeface="Roboto"/>
              <a:sym typeface="Roboto"/>
            </a:endParaRPr>
          </a:p>
        </p:txBody>
      </p:sp>
      <p:sp>
        <p:nvSpPr>
          <p:cNvPr id="147" name="Google Shape;147;p26"/>
          <p:cNvSpPr txBox="1"/>
          <p:nvPr>
            <p:ph type="ctrTitle"/>
          </p:nvPr>
        </p:nvSpPr>
        <p:spPr>
          <a:xfrm>
            <a:off x="343550" y="252300"/>
            <a:ext cx="83442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Criteria and Findings for Conditional Use Permit</a:t>
            </a:r>
            <a:endParaRPr sz="2800">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p27"/>
          <p:cNvSpPr txBox="1"/>
          <p:nvPr/>
        </p:nvSpPr>
        <p:spPr>
          <a:xfrm>
            <a:off x="343550" y="987000"/>
            <a:ext cx="8344200" cy="367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700">
                <a:solidFill>
                  <a:srgbClr val="073763"/>
                </a:solidFill>
                <a:latin typeface="Roboto"/>
                <a:ea typeface="Roboto"/>
                <a:cs typeface="Roboto"/>
                <a:sym typeface="Roboto"/>
              </a:rPr>
              <a:t>20.06.040(d)(6)(C) Additional Criteria Applicable to Conditional Uses</a:t>
            </a:r>
            <a:endParaRPr b="1" sz="1700">
              <a:solidFill>
                <a:srgbClr val="073763"/>
              </a:solidFill>
              <a:latin typeface="Roboto"/>
              <a:ea typeface="Roboto"/>
              <a:cs typeface="Roboto"/>
              <a:sym typeface="Roboto"/>
            </a:endParaRPr>
          </a:p>
          <a:p>
            <a:pPr indent="0" lvl="0" marL="0" rtl="0" algn="l">
              <a:lnSpc>
                <a:spcPct val="115000"/>
              </a:lnSpc>
              <a:spcBef>
                <a:spcPts val="0"/>
              </a:spcBef>
              <a:spcAft>
                <a:spcPts val="0"/>
              </a:spcAft>
              <a:buNone/>
            </a:pPr>
            <a:r>
              <a:rPr b="1" lang="en" sz="1700">
                <a:solidFill>
                  <a:srgbClr val="073763"/>
                </a:solidFill>
                <a:latin typeface="Roboto"/>
                <a:ea typeface="Roboto"/>
                <a:cs typeface="Roboto"/>
                <a:sym typeface="Roboto"/>
              </a:rPr>
              <a:t>ii. </a:t>
            </a:r>
            <a:r>
              <a:rPr b="1" lang="en" sz="1700">
                <a:solidFill>
                  <a:srgbClr val="073763"/>
                </a:solidFill>
                <a:latin typeface="Roboto"/>
                <a:ea typeface="Roboto"/>
                <a:cs typeface="Roboto"/>
                <a:sym typeface="Roboto"/>
              </a:rPr>
              <a:t>Provides Adequate Public Services and Facilities</a:t>
            </a:r>
            <a:endParaRPr b="1" sz="1700">
              <a:solidFill>
                <a:srgbClr val="073763"/>
              </a:solidFill>
              <a:latin typeface="Roboto"/>
              <a:ea typeface="Roboto"/>
              <a:cs typeface="Roboto"/>
              <a:sym typeface="Roboto"/>
            </a:endParaRPr>
          </a:p>
          <a:p>
            <a:pPr indent="0" lvl="0" marL="0" rtl="0" algn="l">
              <a:lnSpc>
                <a:spcPct val="115000"/>
              </a:lnSpc>
              <a:spcBef>
                <a:spcPts val="0"/>
              </a:spcBef>
              <a:spcAft>
                <a:spcPts val="0"/>
              </a:spcAft>
              <a:buNone/>
            </a:pPr>
            <a:r>
              <a:rPr lang="en" sz="1700" u="sng">
                <a:solidFill>
                  <a:srgbClr val="073763"/>
                </a:solidFill>
                <a:latin typeface="Roboto"/>
                <a:ea typeface="Roboto"/>
                <a:cs typeface="Roboto"/>
                <a:sym typeface="Roboto"/>
              </a:rPr>
              <a:t>Proposed Finding:</a:t>
            </a:r>
            <a:r>
              <a:rPr lang="en" sz="1700">
                <a:solidFill>
                  <a:srgbClr val="073763"/>
                </a:solidFill>
                <a:latin typeface="Roboto"/>
                <a:ea typeface="Roboto"/>
                <a:cs typeface="Roboto"/>
                <a:sym typeface="Roboto"/>
              </a:rPr>
              <a:t> </a:t>
            </a:r>
            <a:r>
              <a:rPr lang="en" sz="1700">
                <a:solidFill>
                  <a:srgbClr val="073763"/>
                </a:solidFill>
                <a:latin typeface="Roboto"/>
                <a:ea typeface="Roboto"/>
                <a:cs typeface="Roboto"/>
                <a:sym typeface="Roboto"/>
              </a:rPr>
              <a:t>As stated by the City of Bloomington Utilities (CBU) Department, there is adequate water and sewer capacity in the City’s systems to serve the development. On the site plan, new concrete walkways are shown to connect the proposed duplex to E. Wylie Street to the north, which provides pedestrian connections to the site and is required by UDO Section </a:t>
            </a:r>
            <a:r>
              <a:rPr lang="en" sz="1700" u="sng">
                <a:solidFill>
                  <a:srgbClr val="073763"/>
                </a:solidFill>
                <a:latin typeface="Roboto"/>
                <a:ea typeface="Roboto"/>
                <a:cs typeface="Roboto"/>
                <a:sym typeface="Roboto"/>
                <a:hlinkClick r:id="rId4">
                  <a:extLst>
                    <a:ext uri="{A12FA001-AC4F-418D-AE19-62706E023703}">
                      <ahyp:hlinkClr val="tx"/>
                    </a:ext>
                  </a:extLst>
                </a:hlinkClick>
              </a:rPr>
              <a:t>20.04.050(d)(4)(C)</a:t>
            </a:r>
            <a:r>
              <a:rPr lang="en" sz="1700">
                <a:solidFill>
                  <a:srgbClr val="073763"/>
                </a:solidFill>
                <a:latin typeface="Roboto"/>
                <a:ea typeface="Roboto"/>
                <a:cs typeface="Roboto"/>
                <a:sym typeface="Roboto"/>
              </a:rPr>
              <a:t>. The petitioner has modified the proposed parking arrangement to remove the previously shown drivecut on E. Wylie Street. The revised site plan is now showing a new parking area off the alley along the south side of the property. The new parking area will be accessed from a newly improved alley that derives access from the existing stub of S. Palmer Avenue.</a:t>
            </a:r>
            <a:endParaRPr sz="1700">
              <a:solidFill>
                <a:srgbClr val="073763"/>
              </a:solidFill>
              <a:latin typeface="Roboto"/>
              <a:ea typeface="Roboto"/>
              <a:cs typeface="Roboto"/>
              <a:sym typeface="Roboto"/>
            </a:endParaRPr>
          </a:p>
        </p:txBody>
      </p:sp>
      <p:sp>
        <p:nvSpPr>
          <p:cNvPr id="153" name="Google Shape;153;p27"/>
          <p:cNvSpPr txBox="1"/>
          <p:nvPr>
            <p:ph type="ctrTitle"/>
          </p:nvPr>
        </p:nvSpPr>
        <p:spPr>
          <a:xfrm>
            <a:off x="343550" y="252300"/>
            <a:ext cx="83442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Criteria and Findings for Conditional Use Permit</a:t>
            </a:r>
            <a:endParaRPr sz="2800">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28"/>
          <p:cNvSpPr txBox="1"/>
          <p:nvPr/>
        </p:nvSpPr>
        <p:spPr>
          <a:xfrm>
            <a:off x="343550" y="987000"/>
            <a:ext cx="8344200" cy="367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500">
                <a:solidFill>
                  <a:srgbClr val="073763"/>
                </a:solidFill>
                <a:latin typeface="Roboto"/>
                <a:ea typeface="Roboto"/>
                <a:cs typeface="Roboto"/>
                <a:sym typeface="Roboto"/>
              </a:rPr>
              <a:t>20.06.040(d)(6)(C) Additional Criteria Applicable to Conditional Uses</a:t>
            </a:r>
            <a:endParaRPr b="1" sz="1500">
              <a:solidFill>
                <a:srgbClr val="073763"/>
              </a:solidFill>
              <a:latin typeface="Roboto"/>
              <a:ea typeface="Roboto"/>
              <a:cs typeface="Roboto"/>
              <a:sym typeface="Roboto"/>
            </a:endParaRPr>
          </a:p>
          <a:p>
            <a:pPr indent="0" lvl="0" marL="0" rtl="0" algn="l">
              <a:lnSpc>
                <a:spcPct val="115000"/>
              </a:lnSpc>
              <a:spcBef>
                <a:spcPts val="0"/>
              </a:spcBef>
              <a:spcAft>
                <a:spcPts val="0"/>
              </a:spcAft>
              <a:buNone/>
            </a:pPr>
            <a:r>
              <a:rPr b="1" lang="en" sz="1500">
                <a:solidFill>
                  <a:srgbClr val="073763"/>
                </a:solidFill>
                <a:latin typeface="Roboto"/>
                <a:ea typeface="Roboto"/>
                <a:cs typeface="Roboto"/>
                <a:sym typeface="Roboto"/>
              </a:rPr>
              <a:t>iii. </a:t>
            </a:r>
            <a:r>
              <a:rPr b="1" lang="en" sz="1500">
                <a:solidFill>
                  <a:srgbClr val="073763"/>
                </a:solidFill>
                <a:latin typeface="Roboto"/>
                <a:ea typeface="Roboto"/>
                <a:cs typeface="Roboto"/>
                <a:sym typeface="Roboto"/>
              </a:rPr>
              <a:t>Minimizes or Mitigates Adverse Impacts</a:t>
            </a:r>
            <a:endParaRPr b="1" sz="1500">
              <a:solidFill>
                <a:srgbClr val="073763"/>
              </a:solidFill>
              <a:latin typeface="Roboto"/>
              <a:ea typeface="Roboto"/>
              <a:cs typeface="Roboto"/>
              <a:sym typeface="Roboto"/>
            </a:endParaRPr>
          </a:p>
          <a:p>
            <a:pPr indent="0" lvl="0" marL="0" rtl="0" algn="l">
              <a:lnSpc>
                <a:spcPct val="115000"/>
              </a:lnSpc>
              <a:spcBef>
                <a:spcPts val="0"/>
              </a:spcBef>
              <a:spcAft>
                <a:spcPts val="0"/>
              </a:spcAft>
              <a:buNone/>
            </a:pPr>
            <a:r>
              <a:rPr lang="en" sz="1500" u="sng">
                <a:solidFill>
                  <a:srgbClr val="073763"/>
                </a:solidFill>
                <a:latin typeface="Roboto"/>
                <a:ea typeface="Roboto"/>
                <a:cs typeface="Roboto"/>
                <a:sym typeface="Roboto"/>
              </a:rPr>
              <a:t>Proposed Finding:</a:t>
            </a:r>
            <a:r>
              <a:rPr lang="en" sz="1500">
                <a:solidFill>
                  <a:srgbClr val="073763"/>
                </a:solidFill>
                <a:latin typeface="Roboto"/>
                <a:ea typeface="Roboto"/>
                <a:cs typeface="Roboto"/>
                <a:sym typeface="Roboto"/>
              </a:rPr>
              <a:t> </a:t>
            </a:r>
            <a:r>
              <a:rPr lang="en" sz="1500">
                <a:solidFill>
                  <a:srgbClr val="073763"/>
                </a:solidFill>
                <a:latin typeface="Roboto"/>
                <a:ea typeface="Roboto"/>
                <a:cs typeface="Roboto"/>
                <a:sym typeface="Roboto"/>
              </a:rPr>
              <a:t>There are no known regulated natural or scenic features that will be impacted. The City’s Senior Environmental Planner visited the site and determined that there is no closed canopy present on the site, so the regulations of UDO Section 20.04.030(h) are not applicable in this case. The property is not designated as a historic site nor is it subject to any historic regulations. No significant adverse impacts are expected from the creation of the proposed duplex. No changes to trash and waste collection service are expected. This petition was presented to the Bryan Park and Elm Heights Neighborhood Associations during a joint meeting on May 7, 2026. In response to feedback received at the neighborhood meeting, the petitioner revised the site plan to include a proposed 6’ tall opaque privacy fence on the east side of the lot to help buffer this property from the adjacent use; a condition of approval has been included for that aspect.</a:t>
            </a:r>
            <a:endParaRPr sz="1500">
              <a:solidFill>
                <a:srgbClr val="073763"/>
              </a:solidFill>
              <a:latin typeface="Roboto"/>
              <a:ea typeface="Roboto"/>
              <a:cs typeface="Roboto"/>
              <a:sym typeface="Roboto"/>
            </a:endParaRPr>
          </a:p>
        </p:txBody>
      </p:sp>
      <p:sp>
        <p:nvSpPr>
          <p:cNvPr id="159" name="Google Shape;159;p28"/>
          <p:cNvSpPr txBox="1"/>
          <p:nvPr>
            <p:ph type="ctrTitle"/>
          </p:nvPr>
        </p:nvSpPr>
        <p:spPr>
          <a:xfrm>
            <a:off x="343550" y="252300"/>
            <a:ext cx="83442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Criteria and Findings for Conditional Use Permit</a:t>
            </a:r>
            <a:endParaRPr sz="2800">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sp>
        <p:nvSpPr>
          <p:cNvPr id="164" name="Google Shape;164;p29"/>
          <p:cNvSpPr txBox="1"/>
          <p:nvPr/>
        </p:nvSpPr>
        <p:spPr>
          <a:xfrm>
            <a:off x="343550" y="987000"/>
            <a:ext cx="8344200" cy="367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000">
                <a:solidFill>
                  <a:srgbClr val="073763"/>
                </a:solidFill>
                <a:latin typeface="Roboto"/>
                <a:ea typeface="Roboto"/>
                <a:cs typeface="Roboto"/>
                <a:sym typeface="Roboto"/>
              </a:rPr>
              <a:t>20.06.040(d)(6)(C) Additional Criteria Applicable to Conditional Uses</a:t>
            </a:r>
            <a:endParaRPr b="1" sz="2000">
              <a:solidFill>
                <a:srgbClr val="073763"/>
              </a:solidFill>
              <a:latin typeface="Roboto"/>
              <a:ea typeface="Roboto"/>
              <a:cs typeface="Roboto"/>
              <a:sym typeface="Roboto"/>
            </a:endParaRPr>
          </a:p>
          <a:p>
            <a:pPr indent="0" lvl="0" marL="0" rtl="0" algn="l">
              <a:lnSpc>
                <a:spcPct val="115000"/>
              </a:lnSpc>
              <a:spcBef>
                <a:spcPts val="0"/>
              </a:spcBef>
              <a:spcAft>
                <a:spcPts val="0"/>
              </a:spcAft>
              <a:buNone/>
            </a:pPr>
            <a:r>
              <a:rPr b="1" lang="en" sz="2000">
                <a:solidFill>
                  <a:srgbClr val="073763"/>
                </a:solidFill>
                <a:latin typeface="Roboto"/>
                <a:ea typeface="Roboto"/>
                <a:cs typeface="Roboto"/>
                <a:sym typeface="Roboto"/>
              </a:rPr>
              <a:t>iv. Rational Phasing Plan</a:t>
            </a:r>
            <a:endParaRPr b="1" sz="2000">
              <a:solidFill>
                <a:srgbClr val="073763"/>
              </a:solidFill>
              <a:latin typeface="Roboto"/>
              <a:ea typeface="Roboto"/>
              <a:cs typeface="Roboto"/>
              <a:sym typeface="Roboto"/>
            </a:endParaRPr>
          </a:p>
          <a:p>
            <a:pPr indent="0" lvl="0" marL="0" rtl="0" algn="l">
              <a:lnSpc>
                <a:spcPct val="115000"/>
              </a:lnSpc>
              <a:spcBef>
                <a:spcPts val="0"/>
              </a:spcBef>
              <a:spcAft>
                <a:spcPts val="0"/>
              </a:spcAft>
              <a:buNone/>
            </a:pPr>
            <a:r>
              <a:rPr lang="en" sz="2000" u="sng">
                <a:solidFill>
                  <a:srgbClr val="073763"/>
                </a:solidFill>
                <a:latin typeface="Roboto"/>
                <a:ea typeface="Roboto"/>
                <a:cs typeface="Roboto"/>
                <a:sym typeface="Roboto"/>
              </a:rPr>
              <a:t>Proposed Finding:</a:t>
            </a:r>
            <a:r>
              <a:rPr lang="en" sz="2000">
                <a:solidFill>
                  <a:srgbClr val="073763"/>
                </a:solidFill>
                <a:latin typeface="Roboto"/>
                <a:ea typeface="Roboto"/>
                <a:cs typeface="Roboto"/>
                <a:sym typeface="Roboto"/>
              </a:rPr>
              <a:t> </a:t>
            </a:r>
            <a:r>
              <a:rPr lang="en" sz="2000">
                <a:solidFill>
                  <a:srgbClr val="073763"/>
                </a:solidFill>
                <a:latin typeface="Roboto"/>
                <a:ea typeface="Roboto"/>
                <a:cs typeface="Roboto"/>
                <a:sym typeface="Roboto"/>
              </a:rPr>
              <a:t>No phasing is proposed with this plan.</a:t>
            </a:r>
            <a:endParaRPr sz="2000">
              <a:solidFill>
                <a:srgbClr val="073763"/>
              </a:solidFill>
              <a:latin typeface="Roboto"/>
              <a:ea typeface="Roboto"/>
              <a:cs typeface="Roboto"/>
              <a:sym typeface="Roboto"/>
            </a:endParaRPr>
          </a:p>
        </p:txBody>
      </p:sp>
      <p:sp>
        <p:nvSpPr>
          <p:cNvPr id="165" name="Google Shape;165;p29"/>
          <p:cNvSpPr txBox="1"/>
          <p:nvPr>
            <p:ph type="ctrTitle"/>
          </p:nvPr>
        </p:nvSpPr>
        <p:spPr>
          <a:xfrm>
            <a:off x="343550" y="252300"/>
            <a:ext cx="83442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Criteria and Findings for Conditional Use Permit</a:t>
            </a:r>
            <a:endParaRPr sz="2800">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id="170" name="Google Shape;170;p30"/>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355600" lvl="0" marL="914400" rtl="0" algn="l">
              <a:lnSpc>
                <a:spcPct val="150000"/>
              </a:lnSpc>
              <a:spcBef>
                <a:spcPts val="0"/>
              </a:spcBef>
              <a:spcAft>
                <a:spcPts val="0"/>
              </a:spcAft>
              <a:buClr>
                <a:srgbClr val="073763"/>
              </a:buClr>
              <a:buSzPts val="2000"/>
              <a:buFont typeface="Roboto"/>
              <a:buChar char="●"/>
            </a:pPr>
            <a:r>
              <a:rPr b="1" lang="en" sz="2000">
                <a:solidFill>
                  <a:srgbClr val="073763"/>
                </a:solidFill>
                <a:latin typeface="Roboto"/>
                <a:ea typeface="Roboto"/>
                <a:cs typeface="Roboto"/>
                <a:sym typeface="Roboto"/>
              </a:rPr>
              <a:t>Maximum Vehicle Parking: </a:t>
            </a:r>
            <a:r>
              <a:rPr lang="en" sz="2000">
                <a:solidFill>
                  <a:srgbClr val="073763"/>
                </a:solidFill>
                <a:latin typeface="Roboto"/>
                <a:ea typeface="Roboto"/>
                <a:cs typeface="Roboto"/>
                <a:sym typeface="Roboto"/>
              </a:rPr>
              <a:t>A variance is being requested to increase the maximum number of parking spaces allowed for a “Dwelling, Duplex” use from 4 to 5 parking spaces. 20.04.060(e)</a:t>
            </a:r>
            <a:endParaRPr sz="2000">
              <a:solidFill>
                <a:srgbClr val="073763"/>
              </a:solidFill>
              <a:latin typeface="Roboto"/>
              <a:ea typeface="Roboto"/>
              <a:cs typeface="Roboto"/>
              <a:sym typeface="Roboto"/>
            </a:endParaRPr>
          </a:p>
          <a:p>
            <a:pPr indent="-355600" lvl="0" marL="914400" rtl="0" algn="l">
              <a:lnSpc>
                <a:spcPct val="150000"/>
              </a:lnSpc>
              <a:spcBef>
                <a:spcPts val="0"/>
              </a:spcBef>
              <a:spcAft>
                <a:spcPts val="0"/>
              </a:spcAft>
              <a:buClr>
                <a:srgbClr val="073763"/>
              </a:buClr>
              <a:buSzPts val="2000"/>
              <a:buFont typeface="Roboto"/>
              <a:buChar char="●"/>
            </a:pPr>
            <a:r>
              <a:rPr b="1" lang="en" sz="2000">
                <a:solidFill>
                  <a:srgbClr val="073763"/>
                </a:solidFill>
                <a:latin typeface="Roboto"/>
                <a:ea typeface="Roboto"/>
                <a:cs typeface="Roboto"/>
                <a:sym typeface="Roboto"/>
              </a:rPr>
              <a:t>Vehicle Parking Location and Design: </a:t>
            </a:r>
            <a:r>
              <a:rPr lang="en" sz="2000">
                <a:solidFill>
                  <a:srgbClr val="073763"/>
                </a:solidFill>
                <a:latin typeface="Roboto"/>
                <a:ea typeface="Roboto"/>
                <a:cs typeface="Roboto"/>
                <a:sym typeface="Roboto"/>
              </a:rPr>
              <a:t>UDO Section 20.04.060(i)(2)(B)(ii) allows for a 20’ by 20’ parking area. The petitioner is requesting a variance from that restriction to allow the 20’ by 40’ parking area as proposed.</a:t>
            </a:r>
            <a:endParaRPr sz="2000">
              <a:solidFill>
                <a:srgbClr val="073763"/>
              </a:solidFill>
              <a:latin typeface="Roboto"/>
              <a:ea typeface="Roboto"/>
              <a:cs typeface="Roboto"/>
              <a:sym typeface="Roboto"/>
            </a:endParaRPr>
          </a:p>
        </p:txBody>
      </p:sp>
      <p:sp>
        <p:nvSpPr>
          <p:cNvPr id="171" name="Google Shape;171;p30"/>
          <p:cNvSpPr txBox="1"/>
          <p:nvPr>
            <p:ph type="ctrTitle"/>
          </p:nvPr>
        </p:nvSpPr>
        <p:spPr>
          <a:xfrm>
            <a:off x="343550" y="252300"/>
            <a:ext cx="8344200" cy="10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Development Standards Variance Requests</a:t>
            </a:r>
            <a:endParaRPr sz="2800">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sp>
        <p:nvSpPr>
          <p:cNvPr id="176" name="Google Shape;176;p31"/>
          <p:cNvSpPr txBox="1"/>
          <p:nvPr>
            <p:ph type="ctrTitle"/>
          </p:nvPr>
        </p:nvSpPr>
        <p:spPr>
          <a:xfrm>
            <a:off x="343550" y="252300"/>
            <a:ext cx="4800000" cy="142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Current</a:t>
            </a:r>
            <a:br>
              <a:rPr b="1" lang="en" sz="3000">
                <a:solidFill>
                  <a:srgbClr val="073763"/>
                </a:solidFill>
                <a:latin typeface="Roboto"/>
                <a:ea typeface="Roboto"/>
                <a:cs typeface="Roboto"/>
                <a:sym typeface="Roboto"/>
              </a:rPr>
            </a:br>
            <a:r>
              <a:rPr b="1" lang="en" sz="3000">
                <a:solidFill>
                  <a:srgbClr val="073763"/>
                </a:solidFill>
                <a:latin typeface="Roboto"/>
                <a:ea typeface="Roboto"/>
                <a:cs typeface="Roboto"/>
                <a:sym typeface="Roboto"/>
              </a:rPr>
              <a:t>Site Plan</a:t>
            </a:r>
            <a:endParaRPr b="1" sz="3000">
              <a:solidFill>
                <a:srgbClr val="073763"/>
              </a:solidFill>
              <a:latin typeface="Roboto"/>
              <a:ea typeface="Roboto"/>
              <a:cs typeface="Roboto"/>
              <a:sym typeface="Roboto"/>
            </a:endParaRPr>
          </a:p>
        </p:txBody>
      </p:sp>
      <p:pic>
        <p:nvPicPr>
          <p:cNvPr id="177" name="Google Shape;177;p31" title="site plan new.jpg"/>
          <p:cNvPicPr preferRelativeResize="0"/>
          <p:nvPr/>
        </p:nvPicPr>
        <p:blipFill rotWithShape="1">
          <a:blip r:embed="rId4">
            <a:alphaModFix/>
          </a:blip>
          <a:srcRect b="0" l="0" r="0" t="10"/>
          <a:stretch/>
        </p:blipFill>
        <p:spPr>
          <a:xfrm>
            <a:off x="3083438" y="252300"/>
            <a:ext cx="2977124" cy="438537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p32"/>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073763"/>
                </a:solidFill>
                <a:latin typeface="Roboto"/>
                <a:ea typeface="Roboto"/>
                <a:cs typeface="Roboto"/>
                <a:sym typeface="Roboto"/>
              </a:rPr>
              <a:t>1. The approval will not be injurious to the public health, safety, morals, and general welfare of the community.</a:t>
            </a:r>
            <a:endParaRPr sz="2000">
              <a:solidFill>
                <a:srgbClr val="073763"/>
              </a:solidFill>
              <a:latin typeface="Roboto"/>
              <a:ea typeface="Roboto"/>
              <a:cs typeface="Roboto"/>
              <a:sym typeface="Roboto"/>
            </a:endParaRPr>
          </a:p>
          <a:p>
            <a:pPr indent="-355600" lvl="1" marL="914400" rtl="0" algn="l">
              <a:lnSpc>
                <a:spcPct val="115000"/>
              </a:lnSpc>
              <a:spcBef>
                <a:spcPts val="0"/>
              </a:spcBef>
              <a:spcAft>
                <a:spcPts val="0"/>
              </a:spcAft>
              <a:buClr>
                <a:srgbClr val="073763"/>
              </a:buClr>
              <a:buSzPts val="2000"/>
              <a:buFont typeface="Roboto"/>
              <a:buChar char="○"/>
            </a:pPr>
            <a:r>
              <a:rPr lang="en" sz="2000" u="sng">
                <a:solidFill>
                  <a:srgbClr val="073763"/>
                </a:solidFill>
                <a:latin typeface="Roboto"/>
                <a:ea typeface="Roboto"/>
                <a:cs typeface="Roboto"/>
                <a:sym typeface="Roboto"/>
              </a:rPr>
              <a:t>Proposed Finding - Maximum Vehicle Parking:</a:t>
            </a:r>
            <a:r>
              <a:rPr lang="en" sz="2000">
                <a:solidFill>
                  <a:srgbClr val="073763"/>
                </a:solidFill>
                <a:latin typeface="Roboto"/>
                <a:ea typeface="Roboto"/>
                <a:cs typeface="Roboto"/>
                <a:sym typeface="Roboto"/>
              </a:rPr>
              <a:t> The granting of this variance is not expected to be injurious to the public health, safety, morals, or general welfare of the community. While the maximum parking standards for this use were highly contested and vetted, one additional parking space that otherwise meets the design standards of the property would have no impact on the community, at large.</a:t>
            </a:r>
            <a:endParaRPr sz="2000">
              <a:solidFill>
                <a:srgbClr val="073763"/>
              </a:solidFill>
              <a:latin typeface="Roboto"/>
              <a:ea typeface="Roboto"/>
              <a:cs typeface="Roboto"/>
              <a:sym typeface="Roboto"/>
            </a:endParaRPr>
          </a:p>
        </p:txBody>
      </p:sp>
      <p:sp>
        <p:nvSpPr>
          <p:cNvPr id="183" name="Google Shape;183;p32"/>
          <p:cNvSpPr txBox="1"/>
          <p:nvPr>
            <p:ph type="ctrTitle"/>
          </p:nvPr>
        </p:nvSpPr>
        <p:spPr>
          <a:xfrm>
            <a:off x="343550" y="252300"/>
            <a:ext cx="8344200" cy="10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Criteria and Findings for </a:t>
            </a:r>
            <a:r>
              <a:rPr b="1" lang="en" sz="2800">
                <a:solidFill>
                  <a:srgbClr val="073763"/>
                </a:solidFill>
                <a:latin typeface="Roboto"/>
                <a:ea typeface="Roboto"/>
                <a:cs typeface="Roboto"/>
                <a:sym typeface="Roboto"/>
              </a:rPr>
              <a:t>Development Standards Variance</a:t>
            </a:r>
            <a:endParaRPr sz="2800">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sp>
        <p:nvSpPr>
          <p:cNvPr id="188" name="Google Shape;188;p33"/>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900">
                <a:solidFill>
                  <a:srgbClr val="073763"/>
                </a:solidFill>
                <a:latin typeface="Roboto"/>
                <a:ea typeface="Roboto"/>
                <a:cs typeface="Roboto"/>
                <a:sym typeface="Roboto"/>
              </a:rPr>
              <a:t>2. </a:t>
            </a:r>
            <a:r>
              <a:rPr lang="en" sz="1900">
                <a:solidFill>
                  <a:srgbClr val="073763"/>
                </a:solidFill>
                <a:latin typeface="Roboto"/>
                <a:ea typeface="Roboto"/>
                <a:cs typeface="Roboto"/>
                <a:sym typeface="Roboto"/>
              </a:rPr>
              <a:t>The use and value of the area adjacent to the property included in the Development Standards Variance will not be affected in a substantially adverse manner.</a:t>
            </a:r>
            <a:endParaRPr sz="1900">
              <a:solidFill>
                <a:srgbClr val="073763"/>
              </a:solidFill>
              <a:latin typeface="Roboto"/>
              <a:ea typeface="Roboto"/>
              <a:cs typeface="Roboto"/>
              <a:sym typeface="Roboto"/>
            </a:endParaRPr>
          </a:p>
          <a:p>
            <a:pPr indent="-349250" lvl="1" marL="914400" rtl="0" algn="l">
              <a:lnSpc>
                <a:spcPct val="115000"/>
              </a:lnSpc>
              <a:spcBef>
                <a:spcPts val="0"/>
              </a:spcBef>
              <a:spcAft>
                <a:spcPts val="0"/>
              </a:spcAft>
              <a:buClr>
                <a:srgbClr val="073763"/>
              </a:buClr>
              <a:buSzPts val="1900"/>
              <a:buFont typeface="Roboto"/>
              <a:buChar char="○"/>
            </a:pPr>
            <a:r>
              <a:rPr lang="en" sz="1900" u="sng">
                <a:solidFill>
                  <a:srgbClr val="073763"/>
                </a:solidFill>
                <a:latin typeface="Roboto"/>
                <a:ea typeface="Roboto"/>
                <a:cs typeface="Roboto"/>
                <a:sym typeface="Roboto"/>
              </a:rPr>
              <a:t>Proposed Finding - Maximum Vehicle Parking:</a:t>
            </a:r>
            <a:r>
              <a:rPr lang="en" sz="1900">
                <a:solidFill>
                  <a:srgbClr val="073763"/>
                </a:solidFill>
                <a:latin typeface="Roboto"/>
                <a:ea typeface="Roboto"/>
                <a:cs typeface="Roboto"/>
                <a:sym typeface="Roboto"/>
              </a:rPr>
              <a:t> Adverse impacts to the use and value of surrounding properties as a result of the requested variance are not found. While the maximum parking standards for this use were highly contested and vetted, one additional parking space that otherwise meets the design standards of the property would have no impact on the community, at large.</a:t>
            </a:r>
            <a:endParaRPr sz="1900">
              <a:solidFill>
                <a:srgbClr val="073763"/>
              </a:solidFill>
              <a:latin typeface="Roboto"/>
              <a:ea typeface="Roboto"/>
              <a:cs typeface="Roboto"/>
              <a:sym typeface="Roboto"/>
            </a:endParaRPr>
          </a:p>
        </p:txBody>
      </p:sp>
      <p:sp>
        <p:nvSpPr>
          <p:cNvPr id="189" name="Google Shape;189;p33"/>
          <p:cNvSpPr txBox="1"/>
          <p:nvPr>
            <p:ph type="ctrTitle"/>
          </p:nvPr>
        </p:nvSpPr>
        <p:spPr>
          <a:xfrm>
            <a:off x="343550" y="252300"/>
            <a:ext cx="8344200" cy="10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Criteria and Findings for Development Standards Variance</a:t>
            </a:r>
            <a:endParaRPr sz="2800">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3" name="Shape 193"/>
        <p:cNvGrpSpPr/>
        <p:nvPr/>
      </p:nvGrpSpPr>
      <p:grpSpPr>
        <a:xfrm>
          <a:off x="0" y="0"/>
          <a:ext cx="0" cy="0"/>
          <a:chOff x="0" y="0"/>
          <a:chExt cx="0" cy="0"/>
        </a:xfrm>
      </p:grpSpPr>
      <p:sp>
        <p:nvSpPr>
          <p:cNvPr id="194" name="Google Shape;194;p34"/>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073763"/>
                </a:solidFill>
                <a:latin typeface="Roboto"/>
                <a:ea typeface="Roboto"/>
                <a:cs typeface="Roboto"/>
                <a:sym typeface="Roboto"/>
              </a:rPr>
              <a:t>3</a:t>
            </a:r>
            <a:r>
              <a:rPr lang="en" sz="1800">
                <a:solidFill>
                  <a:srgbClr val="073763"/>
                </a:solidFill>
                <a:latin typeface="Roboto"/>
                <a:ea typeface="Roboto"/>
                <a:cs typeface="Roboto"/>
                <a:sym typeface="Roboto"/>
              </a:rPr>
              <a:t>. </a:t>
            </a:r>
            <a:r>
              <a:rPr lang="en" sz="1800">
                <a:solidFill>
                  <a:srgbClr val="073763"/>
                </a:solidFill>
                <a:latin typeface="Roboto"/>
                <a:ea typeface="Roboto"/>
                <a:cs typeface="Roboto"/>
                <a:sym typeface="Roboto"/>
              </a:rPr>
              <a:t>The strict application of the terms of the Unified Development Ordinance will result in practical difficulties in the use of the property; that the practical difficulties are peculiar to the property in question; that the Development Standards Variance will relieve the practical difficulties.</a:t>
            </a:r>
            <a:endParaRPr sz="1800">
              <a:solidFill>
                <a:srgbClr val="073763"/>
              </a:solidFill>
              <a:latin typeface="Roboto"/>
              <a:ea typeface="Roboto"/>
              <a:cs typeface="Roboto"/>
              <a:sym typeface="Roboto"/>
            </a:endParaRPr>
          </a:p>
          <a:p>
            <a:pPr indent="-342900" lvl="1" marL="914400" rtl="0" algn="l">
              <a:lnSpc>
                <a:spcPct val="115000"/>
              </a:lnSpc>
              <a:spcBef>
                <a:spcPts val="0"/>
              </a:spcBef>
              <a:spcAft>
                <a:spcPts val="0"/>
              </a:spcAft>
              <a:buClr>
                <a:srgbClr val="073763"/>
              </a:buClr>
              <a:buSzPts val="1800"/>
              <a:buFont typeface="Roboto"/>
              <a:buChar char="○"/>
            </a:pPr>
            <a:r>
              <a:rPr lang="en" sz="1800" u="sng">
                <a:solidFill>
                  <a:srgbClr val="073763"/>
                </a:solidFill>
                <a:latin typeface="Roboto"/>
                <a:ea typeface="Roboto"/>
                <a:cs typeface="Roboto"/>
                <a:sym typeface="Roboto"/>
              </a:rPr>
              <a:t>Proposed Finding - Maximum Vehicle Parking:</a:t>
            </a:r>
            <a:r>
              <a:rPr lang="en" sz="1800">
                <a:solidFill>
                  <a:srgbClr val="073763"/>
                </a:solidFill>
                <a:latin typeface="Roboto"/>
                <a:ea typeface="Roboto"/>
                <a:cs typeface="Roboto"/>
                <a:sym typeface="Roboto"/>
              </a:rPr>
              <a:t> The strict application of the terms of the UDO will not result in practical difficulties in the use of the property. This property can be developed with a duplex with 4 parking spaces maximum as permitted by the UDO. There are not practical difficulties peculiar to the property in question that prevent the petitioner from meeting the parking maximum of 4 spaces.</a:t>
            </a:r>
            <a:endParaRPr sz="1800">
              <a:solidFill>
                <a:srgbClr val="073763"/>
              </a:solidFill>
              <a:latin typeface="Roboto"/>
              <a:ea typeface="Roboto"/>
              <a:cs typeface="Roboto"/>
              <a:sym typeface="Roboto"/>
            </a:endParaRPr>
          </a:p>
        </p:txBody>
      </p:sp>
      <p:sp>
        <p:nvSpPr>
          <p:cNvPr id="195" name="Google Shape;195;p34"/>
          <p:cNvSpPr txBox="1"/>
          <p:nvPr>
            <p:ph type="ctrTitle"/>
          </p:nvPr>
        </p:nvSpPr>
        <p:spPr>
          <a:xfrm>
            <a:off x="343550" y="252300"/>
            <a:ext cx="8344200" cy="10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Criteria and Findings for Development Standards Variance</a:t>
            </a:r>
            <a:endParaRPr sz="2800">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9" name="Shape 199"/>
        <p:cNvGrpSpPr/>
        <p:nvPr/>
      </p:nvGrpSpPr>
      <p:grpSpPr>
        <a:xfrm>
          <a:off x="0" y="0"/>
          <a:ext cx="0" cy="0"/>
          <a:chOff x="0" y="0"/>
          <a:chExt cx="0" cy="0"/>
        </a:xfrm>
      </p:grpSpPr>
      <p:sp>
        <p:nvSpPr>
          <p:cNvPr id="200" name="Google Shape;200;p35"/>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073763"/>
                </a:solidFill>
                <a:latin typeface="Roboto"/>
                <a:ea typeface="Roboto"/>
                <a:cs typeface="Roboto"/>
                <a:sym typeface="Roboto"/>
              </a:rPr>
              <a:t>1. The approval will not be injurious to the public health, safety, morals, and general welfare of the community.</a:t>
            </a:r>
            <a:endParaRPr sz="1800">
              <a:solidFill>
                <a:srgbClr val="073763"/>
              </a:solidFill>
              <a:latin typeface="Roboto"/>
              <a:ea typeface="Roboto"/>
              <a:cs typeface="Roboto"/>
              <a:sym typeface="Roboto"/>
            </a:endParaRPr>
          </a:p>
          <a:p>
            <a:pPr indent="-342900" lvl="1" marL="914400" rtl="0" algn="l">
              <a:lnSpc>
                <a:spcPct val="115000"/>
              </a:lnSpc>
              <a:spcBef>
                <a:spcPts val="0"/>
              </a:spcBef>
              <a:spcAft>
                <a:spcPts val="0"/>
              </a:spcAft>
              <a:buClr>
                <a:srgbClr val="073763"/>
              </a:buClr>
              <a:buSzPts val="1800"/>
              <a:buFont typeface="Roboto"/>
              <a:buChar char="○"/>
            </a:pPr>
            <a:r>
              <a:rPr lang="en" sz="1800" u="sng">
                <a:solidFill>
                  <a:srgbClr val="073763"/>
                </a:solidFill>
                <a:latin typeface="Roboto"/>
                <a:ea typeface="Roboto"/>
                <a:cs typeface="Roboto"/>
                <a:sym typeface="Roboto"/>
              </a:rPr>
              <a:t>Proposed Finding - Vehicle Parking Location and Design:</a:t>
            </a:r>
            <a:r>
              <a:rPr lang="en" sz="1800">
                <a:solidFill>
                  <a:srgbClr val="073763"/>
                </a:solidFill>
                <a:latin typeface="Roboto"/>
                <a:ea typeface="Roboto"/>
                <a:cs typeface="Roboto"/>
                <a:sym typeface="Roboto"/>
              </a:rPr>
              <a:t> The granting of this variance is expected to be injurious to the public health, safety, morals, or general welfare of the community. The petitioner is requesting</a:t>
            </a:r>
            <a:r>
              <a:rPr lang="en" sz="1800">
                <a:solidFill>
                  <a:srgbClr val="073763"/>
                </a:solidFill>
                <a:highlight>
                  <a:srgbClr val="FFFFFF"/>
                </a:highlight>
                <a:latin typeface="Roboto"/>
                <a:ea typeface="Roboto"/>
                <a:cs typeface="Roboto"/>
                <a:sym typeface="Roboto"/>
              </a:rPr>
              <a:t> double the size permitted by UDO Section 20.04.060(i)(2)(B)(ii) for parking areas accessed via an improved alley in this zoning district. A wider interface between the private and public spaces can create increased safety issues in the event that the alley is used by anyone on foot whether it is improved to the east or not. </a:t>
            </a:r>
            <a:endParaRPr sz="1800">
              <a:solidFill>
                <a:srgbClr val="073763"/>
              </a:solidFill>
              <a:latin typeface="Roboto"/>
              <a:ea typeface="Roboto"/>
              <a:cs typeface="Roboto"/>
              <a:sym typeface="Roboto"/>
            </a:endParaRPr>
          </a:p>
        </p:txBody>
      </p:sp>
      <p:sp>
        <p:nvSpPr>
          <p:cNvPr id="201" name="Google Shape;201;p35"/>
          <p:cNvSpPr txBox="1"/>
          <p:nvPr>
            <p:ph type="ctrTitle"/>
          </p:nvPr>
        </p:nvSpPr>
        <p:spPr>
          <a:xfrm>
            <a:off x="343550" y="252300"/>
            <a:ext cx="8344200" cy="10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Criteria and Findings for Development Standards Variance</a:t>
            </a:r>
            <a:endParaRPr sz="2800">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5" name="Shape 205"/>
        <p:cNvGrpSpPr/>
        <p:nvPr/>
      </p:nvGrpSpPr>
      <p:grpSpPr>
        <a:xfrm>
          <a:off x="0" y="0"/>
          <a:ext cx="0" cy="0"/>
          <a:chOff x="0" y="0"/>
          <a:chExt cx="0" cy="0"/>
        </a:xfrm>
      </p:grpSpPr>
      <p:sp>
        <p:nvSpPr>
          <p:cNvPr id="206" name="Google Shape;206;p36"/>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rgbClr val="073763"/>
                </a:solidFill>
                <a:latin typeface="Roboto"/>
                <a:ea typeface="Roboto"/>
                <a:cs typeface="Roboto"/>
                <a:sym typeface="Roboto"/>
              </a:rPr>
              <a:t>2. The use and value of the area adjacent to the property included in the Development Standards Variance will not be affected in a substantially adverse manner.</a:t>
            </a:r>
            <a:endParaRPr sz="1600">
              <a:solidFill>
                <a:srgbClr val="073763"/>
              </a:solidFill>
              <a:latin typeface="Roboto"/>
              <a:ea typeface="Roboto"/>
              <a:cs typeface="Roboto"/>
              <a:sym typeface="Roboto"/>
            </a:endParaRPr>
          </a:p>
          <a:p>
            <a:pPr indent="-330200" lvl="1" marL="914400" rtl="0" algn="l">
              <a:lnSpc>
                <a:spcPct val="115000"/>
              </a:lnSpc>
              <a:spcBef>
                <a:spcPts val="0"/>
              </a:spcBef>
              <a:spcAft>
                <a:spcPts val="0"/>
              </a:spcAft>
              <a:buClr>
                <a:srgbClr val="073763"/>
              </a:buClr>
              <a:buSzPts val="1600"/>
              <a:buFont typeface="Roboto"/>
              <a:buChar char="○"/>
            </a:pPr>
            <a:r>
              <a:rPr lang="en" sz="1600" u="sng">
                <a:solidFill>
                  <a:srgbClr val="073763"/>
                </a:solidFill>
                <a:latin typeface="Roboto"/>
                <a:ea typeface="Roboto"/>
                <a:cs typeface="Roboto"/>
                <a:sym typeface="Roboto"/>
              </a:rPr>
              <a:t>Proposed Finding - Vehicle Parking Location and Design:</a:t>
            </a:r>
            <a:r>
              <a:rPr lang="en" sz="1600">
                <a:solidFill>
                  <a:srgbClr val="073763"/>
                </a:solidFill>
                <a:latin typeface="Roboto"/>
                <a:ea typeface="Roboto"/>
                <a:cs typeface="Roboto"/>
                <a:sym typeface="Roboto"/>
              </a:rPr>
              <a:t> Adverse impacts to the use and value of surrounding properties as a result of the requested variance are found. The purpose of limiting the size of the allowed parking area off an improved alley is to manage vehicular access in the community and prevent vehicles from blocking alley traffic. Safe alley access is important to the use and value of surrounding properties, and doubling the size of the allowed parking pad increases risk to pedestrians and to future vehicular users in the event the alley is expanded to the east. A 40-foot drivecut allowing direct access for five vehicles is not comparable to the design of vehicle access in the surrounding properties.</a:t>
            </a:r>
            <a:endParaRPr sz="1600">
              <a:solidFill>
                <a:srgbClr val="073763"/>
              </a:solidFill>
              <a:latin typeface="Roboto"/>
              <a:ea typeface="Roboto"/>
              <a:cs typeface="Roboto"/>
              <a:sym typeface="Roboto"/>
            </a:endParaRPr>
          </a:p>
        </p:txBody>
      </p:sp>
      <p:sp>
        <p:nvSpPr>
          <p:cNvPr id="207" name="Google Shape;207;p36"/>
          <p:cNvSpPr txBox="1"/>
          <p:nvPr>
            <p:ph type="ctrTitle"/>
          </p:nvPr>
        </p:nvSpPr>
        <p:spPr>
          <a:xfrm>
            <a:off x="343550" y="252300"/>
            <a:ext cx="8344200" cy="10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Criteria and Findings for Development Standards Variance</a:t>
            </a:r>
            <a:endParaRPr sz="2800">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1" name="Shape 211"/>
        <p:cNvGrpSpPr/>
        <p:nvPr/>
      </p:nvGrpSpPr>
      <p:grpSpPr>
        <a:xfrm>
          <a:off x="0" y="0"/>
          <a:ext cx="0" cy="0"/>
          <a:chOff x="0" y="0"/>
          <a:chExt cx="0" cy="0"/>
        </a:xfrm>
      </p:grpSpPr>
      <p:sp>
        <p:nvSpPr>
          <p:cNvPr id="212" name="Google Shape;212;p37"/>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073763"/>
                </a:solidFill>
                <a:latin typeface="Roboto"/>
                <a:ea typeface="Roboto"/>
                <a:cs typeface="Roboto"/>
                <a:sym typeface="Roboto"/>
              </a:rPr>
              <a:t>3. The strict application of the terms of the Unified Development Ordinance will result in practical difficulties in the use of the property; that the practical difficulties are peculiar to the property in question; that the Development Standards Variance will relieve the practical difficulties.</a:t>
            </a:r>
            <a:endParaRPr>
              <a:solidFill>
                <a:srgbClr val="073763"/>
              </a:solidFill>
              <a:latin typeface="Roboto"/>
              <a:ea typeface="Roboto"/>
              <a:cs typeface="Roboto"/>
              <a:sym typeface="Roboto"/>
            </a:endParaRPr>
          </a:p>
          <a:p>
            <a:pPr indent="-317500" lvl="1" marL="914400" rtl="0" algn="l">
              <a:lnSpc>
                <a:spcPct val="115000"/>
              </a:lnSpc>
              <a:spcBef>
                <a:spcPts val="0"/>
              </a:spcBef>
              <a:spcAft>
                <a:spcPts val="0"/>
              </a:spcAft>
              <a:buClr>
                <a:srgbClr val="073763"/>
              </a:buClr>
              <a:buSzPts val="1400"/>
              <a:buFont typeface="Roboto"/>
              <a:buChar char="○"/>
            </a:pPr>
            <a:r>
              <a:rPr lang="en" u="sng">
                <a:solidFill>
                  <a:srgbClr val="073763"/>
                </a:solidFill>
                <a:latin typeface="Roboto"/>
                <a:ea typeface="Roboto"/>
                <a:cs typeface="Roboto"/>
                <a:sym typeface="Roboto"/>
              </a:rPr>
              <a:t>Proposed Finding - Vehicle Parking Location and Design:</a:t>
            </a:r>
            <a:r>
              <a:rPr lang="en">
                <a:solidFill>
                  <a:srgbClr val="073763"/>
                </a:solidFill>
                <a:latin typeface="Roboto"/>
                <a:ea typeface="Roboto"/>
                <a:cs typeface="Roboto"/>
                <a:sym typeface="Roboto"/>
              </a:rPr>
              <a:t> The strict application of the terms of the UDO will not result in practical difficulties in the use of the property. Since the alley to the south of the subject property is not currently improved, the petitioner has the option to access the property via E. Wylie Street with a compliant driveway as previously shown or to improve the alley for access purposes. There are not practical difficulties peculiar to the property in question that prevent the petitioner from meeting the regulations of UDO Section </a:t>
            </a:r>
            <a:r>
              <a:rPr lang="en" u="sng">
                <a:solidFill>
                  <a:srgbClr val="073763"/>
                </a:solidFill>
                <a:latin typeface="Roboto"/>
                <a:ea typeface="Roboto"/>
                <a:cs typeface="Roboto"/>
                <a:sym typeface="Roboto"/>
                <a:hlinkClick r:id="rId4">
                  <a:extLst>
                    <a:ext uri="{A12FA001-AC4F-418D-AE19-62706E023703}">
                      <ahyp:hlinkClr val="tx"/>
                    </a:ext>
                  </a:extLst>
                </a:hlinkClick>
              </a:rPr>
              <a:t>20.04.060(i)(2)(B)(ii)</a:t>
            </a:r>
            <a:r>
              <a:rPr lang="en">
                <a:solidFill>
                  <a:srgbClr val="073763"/>
                </a:solidFill>
                <a:latin typeface="Roboto"/>
                <a:ea typeface="Roboto"/>
                <a:cs typeface="Roboto"/>
                <a:sym typeface="Roboto"/>
              </a:rPr>
              <a:t> which limits the parking pad size to 20 feet by 20 feet or 400 square feet in size. The site can be developed with a compliant driveway off E. Wylie Street to the north or a compliant parking pad via an improved alley to the south of the property and meet the minimum and maximum parking regulations for the proposed use.</a:t>
            </a:r>
            <a:endParaRPr>
              <a:solidFill>
                <a:srgbClr val="073763"/>
              </a:solidFill>
              <a:latin typeface="Roboto"/>
              <a:ea typeface="Roboto"/>
              <a:cs typeface="Roboto"/>
              <a:sym typeface="Roboto"/>
            </a:endParaRPr>
          </a:p>
        </p:txBody>
      </p:sp>
      <p:sp>
        <p:nvSpPr>
          <p:cNvPr id="213" name="Google Shape;213;p37"/>
          <p:cNvSpPr txBox="1"/>
          <p:nvPr>
            <p:ph type="ctrTitle"/>
          </p:nvPr>
        </p:nvSpPr>
        <p:spPr>
          <a:xfrm>
            <a:off x="343550" y="252300"/>
            <a:ext cx="8344200" cy="10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rgbClr val="073763"/>
                </a:solidFill>
                <a:latin typeface="Roboto"/>
                <a:ea typeface="Roboto"/>
                <a:cs typeface="Roboto"/>
                <a:sym typeface="Roboto"/>
              </a:rPr>
              <a:t>Criteria and Findings for Development Standards Variance</a:t>
            </a:r>
            <a:endParaRPr sz="280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7" name="Shape 217"/>
        <p:cNvGrpSpPr/>
        <p:nvPr/>
      </p:nvGrpSpPr>
      <p:grpSpPr>
        <a:xfrm>
          <a:off x="0" y="0"/>
          <a:ext cx="0" cy="0"/>
          <a:chOff x="0" y="0"/>
          <a:chExt cx="0" cy="0"/>
        </a:xfrm>
      </p:grpSpPr>
      <p:sp>
        <p:nvSpPr>
          <p:cNvPr id="218" name="Google Shape;218;p38"/>
          <p:cNvSpPr txBox="1"/>
          <p:nvPr>
            <p:ph type="ctrTitle"/>
          </p:nvPr>
        </p:nvSpPr>
        <p:spPr>
          <a:xfrm>
            <a:off x="343550" y="252300"/>
            <a:ext cx="4800000" cy="142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Previous</a:t>
            </a:r>
            <a:br>
              <a:rPr b="1" lang="en" sz="3000">
                <a:solidFill>
                  <a:srgbClr val="073763"/>
                </a:solidFill>
                <a:latin typeface="Roboto"/>
                <a:ea typeface="Roboto"/>
                <a:cs typeface="Roboto"/>
                <a:sym typeface="Roboto"/>
              </a:rPr>
            </a:br>
            <a:r>
              <a:rPr b="1" lang="en" sz="3000">
                <a:solidFill>
                  <a:srgbClr val="073763"/>
                </a:solidFill>
                <a:latin typeface="Roboto"/>
                <a:ea typeface="Roboto"/>
                <a:cs typeface="Roboto"/>
                <a:sym typeface="Roboto"/>
              </a:rPr>
              <a:t>Site Plan</a:t>
            </a:r>
            <a:endParaRPr b="1" sz="3000">
              <a:solidFill>
                <a:srgbClr val="073763"/>
              </a:solidFill>
              <a:latin typeface="Roboto"/>
              <a:ea typeface="Roboto"/>
              <a:cs typeface="Roboto"/>
              <a:sym typeface="Roboto"/>
            </a:endParaRPr>
          </a:p>
          <a:p>
            <a:pPr indent="0" lvl="0" marL="0" rtl="0" algn="l">
              <a:spcBef>
                <a:spcPts val="0"/>
              </a:spcBef>
              <a:spcAft>
                <a:spcPts val="0"/>
              </a:spcAft>
              <a:buNone/>
            </a:pPr>
            <a:r>
              <a:t/>
            </a:r>
            <a:endParaRPr b="1" sz="3000">
              <a:solidFill>
                <a:srgbClr val="073763"/>
              </a:solidFill>
              <a:latin typeface="Roboto"/>
              <a:ea typeface="Roboto"/>
              <a:cs typeface="Roboto"/>
              <a:sym typeface="Roboto"/>
            </a:endParaRPr>
          </a:p>
        </p:txBody>
      </p:sp>
      <p:pic>
        <p:nvPicPr>
          <p:cNvPr id="219" name="Google Shape;219;p38" title="Screenshot 2026-06-25 094859.jpg"/>
          <p:cNvPicPr preferRelativeResize="0"/>
          <p:nvPr/>
        </p:nvPicPr>
        <p:blipFill rotWithShape="1">
          <a:blip r:embed="rId4">
            <a:alphaModFix/>
          </a:blip>
          <a:srcRect b="0" l="0" r="0" t="0"/>
          <a:stretch/>
        </p:blipFill>
        <p:spPr>
          <a:xfrm>
            <a:off x="3083438" y="252300"/>
            <a:ext cx="2977125" cy="43853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39"/>
          <p:cNvSpPr txBox="1"/>
          <p:nvPr>
            <p:ph type="ctrTitle"/>
          </p:nvPr>
        </p:nvSpPr>
        <p:spPr>
          <a:xfrm>
            <a:off x="343550" y="252300"/>
            <a:ext cx="4800000" cy="142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Current</a:t>
            </a:r>
            <a:br>
              <a:rPr b="1" lang="en" sz="3000">
                <a:solidFill>
                  <a:srgbClr val="073763"/>
                </a:solidFill>
                <a:latin typeface="Roboto"/>
                <a:ea typeface="Roboto"/>
                <a:cs typeface="Roboto"/>
                <a:sym typeface="Roboto"/>
              </a:rPr>
            </a:br>
            <a:r>
              <a:rPr b="1" lang="en" sz="3000">
                <a:solidFill>
                  <a:srgbClr val="073763"/>
                </a:solidFill>
                <a:latin typeface="Roboto"/>
                <a:ea typeface="Roboto"/>
                <a:cs typeface="Roboto"/>
                <a:sym typeface="Roboto"/>
              </a:rPr>
              <a:t>Site Plan</a:t>
            </a:r>
            <a:endParaRPr b="1" sz="3000">
              <a:solidFill>
                <a:srgbClr val="073763"/>
              </a:solidFill>
              <a:latin typeface="Roboto"/>
              <a:ea typeface="Roboto"/>
              <a:cs typeface="Roboto"/>
              <a:sym typeface="Roboto"/>
            </a:endParaRPr>
          </a:p>
        </p:txBody>
      </p:sp>
      <p:pic>
        <p:nvPicPr>
          <p:cNvPr id="225" name="Google Shape;225;p39" title="site plan new.jpg"/>
          <p:cNvPicPr preferRelativeResize="0"/>
          <p:nvPr/>
        </p:nvPicPr>
        <p:blipFill rotWithShape="1">
          <a:blip r:embed="rId4">
            <a:alphaModFix/>
          </a:blip>
          <a:srcRect b="0" l="0" r="0" t="10"/>
          <a:stretch/>
        </p:blipFill>
        <p:spPr>
          <a:xfrm>
            <a:off x="3083438" y="252300"/>
            <a:ext cx="2977124" cy="438537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9" name="Shape 229"/>
        <p:cNvGrpSpPr/>
        <p:nvPr/>
      </p:nvGrpSpPr>
      <p:grpSpPr>
        <a:xfrm>
          <a:off x="0" y="0"/>
          <a:ext cx="0" cy="0"/>
          <a:chOff x="0" y="0"/>
          <a:chExt cx="0" cy="0"/>
        </a:xfrm>
      </p:grpSpPr>
      <p:sp>
        <p:nvSpPr>
          <p:cNvPr id="230" name="Google Shape;230;p40"/>
          <p:cNvSpPr txBox="1"/>
          <p:nvPr>
            <p:ph type="ctrTitle"/>
          </p:nvPr>
        </p:nvSpPr>
        <p:spPr>
          <a:xfrm>
            <a:off x="343550" y="252300"/>
            <a:ext cx="3118500" cy="12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Previous</a:t>
            </a:r>
            <a:endParaRPr b="1" sz="3000">
              <a:solidFill>
                <a:srgbClr val="073763"/>
              </a:solidFill>
              <a:latin typeface="Roboto"/>
              <a:ea typeface="Roboto"/>
              <a:cs typeface="Roboto"/>
              <a:sym typeface="Roboto"/>
            </a:endParaRPr>
          </a:p>
          <a:p>
            <a:pPr indent="0" lvl="0" marL="0" rtl="0" algn="l">
              <a:spcBef>
                <a:spcPts val="0"/>
              </a:spcBef>
              <a:spcAft>
                <a:spcPts val="0"/>
              </a:spcAft>
              <a:buNone/>
            </a:pPr>
            <a:r>
              <a:rPr b="1" lang="en" sz="3000">
                <a:solidFill>
                  <a:srgbClr val="073763"/>
                </a:solidFill>
                <a:latin typeface="Roboto"/>
                <a:ea typeface="Roboto"/>
                <a:cs typeface="Roboto"/>
                <a:sym typeface="Roboto"/>
              </a:rPr>
              <a:t>Elevations</a:t>
            </a:r>
            <a:endParaRPr b="1" sz="3000">
              <a:solidFill>
                <a:srgbClr val="073763"/>
              </a:solidFill>
              <a:latin typeface="Roboto"/>
              <a:ea typeface="Roboto"/>
              <a:cs typeface="Roboto"/>
              <a:sym typeface="Roboto"/>
            </a:endParaRPr>
          </a:p>
        </p:txBody>
      </p:sp>
      <p:pic>
        <p:nvPicPr>
          <p:cNvPr id="231" name="Google Shape;231;p40" title="Screenshot 2026-06-25 095022.jpg"/>
          <p:cNvPicPr preferRelativeResize="0"/>
          <p:nvPr/>
        </p:nvPicPr>
        <p:blipFill rotWithShape="1">
          <a:blip r:embed="rId4">
            <a:alphaModFix/>
          </a:blip>
          <a:srcRect b="0" l="7856" r="7856" t="0"/>
          <a:stretch/>
        </p:blipFill>
        <p:spPr>
          <a:xfrm>
            <a:off x="213650" y="1463250"/>
            <a:ext cx="4176524" cy="2216995"/>
          </a:xfrm>
          <a:prstGeom prst="rect">
            <a:avLst/>
          </a:prstGeom>
          <a:noFill/>
          <a:ln>
            <a:noFill/>
          </a:ln>
        </p:spPr>
      </p:pic>
      <p:pic>
        <p:nvPicPr>
          <p:cNvPr id="232" name="Google Shape;232;p40" title="Screenshot 2026-06-25 095037.jpg"/>
          <p:cNvPicPr preferRelativeResize="0"/>
          <p:nvPr/>
        </p:nvPicPr>
        <p:blipFill rotWithShape="1">
          <a:blip r:embed="rId5">
            <a:alphaModFix/>
          </a:blip>
          <a:srcRect b="0" l="5162" r="1659" t="0"/>
          <a:stretch/>
        </p:blipFill>
        <p:spPr>
          <a:xfrm>
            <a:off x="4494075" y="1512600"/>
            <a:ext cx="4460225" cy="21183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6" name="Shape 236"/>
        <p:cNvGrpSpPr/>
        <p:nvPr/>
      </p:nvGrpSpPr>
      <p:grpSpPr>
        <a:xfrm>
          <a:off x="0" y="0"/>
          <a:ext cx="0" cy="0"/>
          <a:chOff x="0" y="0"/>
          <a:chExt cx="0" cy="0"/>
        </a:xfrm>
      </p:grpSpPr>
      <p:pic>
        <p:nvPicPr>
          <p:cNvPr id="237" name="Google Shape;237;p41" title="elevation.jpg"/>
          <p:cNvPicPr preferRelativeResize="0"/>
          <p:nvPr/>
        </p:nvPicPr>
        <p:blipFill>
          <a:blip r:embed="rId4">
            <a:alphaModFix/>
          </a:blip>
          <a:stretch>
            <a:fillRect/>
          </a:stretch>
        </p:blipFill>
        <p:spPr>
          <a:xfrm>
            <a:off x="1883425" y="652125"/>
            <a:ext cx="5377149" cy="3839262"/>
          </a:xfrm>
          <a:prstGeom prst="rect">
            <a:avLst/>
          </a:prstGeom>
          <a:noFill/>
          <a:ln>
            <a:noFill/>
          </a:ln>
        </p:spPr>
      </p:pic>
      <p:sp>
        <p:nvSpPr>
          <p:cNvPr id="238" name="Google Shape;238;p41"/>
          <p:cNvSpPr txBox="1"/>
          <p:nvPr>
            <p:ph type="ctrTitle"/>
          </p:nvPr>
        </p:nvSpPr>
        <p:spPr>
          <a:xfrm>
            <a:off x="343550" y="252300"/>
            <a:ext cx="3118500" cy="12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Current</a:t>
            </a:r>
            <a:endParaRPr b="1" sz="3000">
              <a:solidFill>
                <a:srgbClr val="073763"/>
              </a:solidFill>
              <a:latin typeface="Roboto"/>
              <a:ea typeface="Roboto"/>
              <a:cs typeface="Roboto"/>
              <a:sym typeface="Roboto"/>
            </a:endParaRPr>
          </a:p>
          <a:p>
            <a:pPr indent="0" lvl="0" marL="0" rtl="0" algn="l">
              <a:spcBef>
                <a:spcPts val="0"/>
              </a:spcBef>
              <a:spcAft>
                <a:spcPts val="0"/>
              </a:spcAft>
              <a:buNone/>
            </a:pPr>
            <a:r>
              <a:rPr b="1" lang="en" sz="3000">
                <a:solidFill>
                  <a:srgbClr val="073763"/>
                </a:solidFill>
                <a:latin typeface="Roboto"/>
                <a:ea typeface="Roboto"/>
                <a:cs typeface="Roboto"/>
                <a:sym typeface="Roboto"/>
              </a:rPr>
              <a:t>Elevations</a:t>
            </a:r>
            <a:endParaRPr b="1" sz="3000">
              <a:solidFill>
                <a:srgbClr val="073763"/>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pic>
        <p:nvPicPr>
          <p:cNvPr id="243" name="Google Shape;243;p42" title="Screenshot 2026-08-27 100206.jpg"/>
          <p:cNvPicPr preferRelativeResize="0"/>
          <p:nvPr/>
        </p:nvPicPr>
        <p:blipFill rotWithShape="1">
          <a:blip r:embed="rId4">
            <a:alphaModFix/>
          </a:blip>
          <a:srcRect b="0" l="1784" r="1784" t="0"/>
          <a:stretch/>
        </p:blipFill>
        <p:spPr>
          <a:xfrm>
            <a:off x="1883425" y="792238"/>
            <a:ext cx="5377148" cy="3839263"/>
          </a:xfrm>
          <a:prstGeom prst="rect">
            <a:avLst/>
          </a:prstGeom>
          <a:noFill/>
          <a:ln>
            <a:noFill/>
          </a:ln>
        </p:spPr>
      </p:pic>
      <p:sp>
        <p:nvSpPr>
          <p:cNvPr id="244" name="Google Shape;244;p42"/>
          <p:cNvSpPr txBox="1"/>
          <p:nvPr>
            <p:ph type="ctrTitle"/>
          </p:nvPr>
        </p:nvSpPr>
        <p:spPr>
          <a:xfrm>
            <a:off x="343550" y="252300"/>
            <a:ext cx="4647900" cy="12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Current </a:t>
            </a:r>
            <a:r>
              <a:rPr b="1" lang="en" sz="3000">
                <a:solidFill>
                  <a:srgbClr val="073763"/>
                </a:solidFill>
                <a:latin typeface="Roboto"/>
                <a:ea typeface="Roboto"/>
                <a:cs typeface="Roboto"/>
                <a:sym typeface="Roboto"/>
              </a:rPr>
              <a:t>Elevations</a:t>
            </a:r>
            <a:endParaRPr b="1" sz="3000">
              <a:solidFill>
                <a:srgbClr val="073763"/>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8" name="Shape 248"/>
        <p:cNvGrpSpPr/>
        <p:nvPr/>
      </p:nvGrpSpPr>
      <p:grpSpPr>
        <a:xfrm>
          <a:off x="0" y="0"/>
          <a:ext cx="0" cy="0"/>
          <a:chOff x="0" y="0"/>
          <a:chExt cx="0" cy="0"/>
        </a:xfrm>
      </p:grpSpPr>
      <p:sp>
        <p:nvSpPr>
          <p:cNvPr id="249" name="Google Shape;249;p43"/>
          <p:cNvSpPr txBox="1"/>
          <p:nvPr>
            <p:ph type="ctrTitle"/>
          </p:nvPr>
        </p:nvSpPr>
        <p:spPr>
          <a:xfrm>
            <a:off x="343550" y="252300"/>
            <a:ext cx="4137300" cy="11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Current Floor Plan</a:t>
            </a:r>
            <a:endParaRPr b="1" sz="3000">
              <a:solidFill>
                <a:srgbClr val="073763"/>
              </a:solidFill>
              <a:latin typeface="Roboto"/>
              <a:ea typeface="Roboto"/>
              <a:cs typeface="Roboto"/>
              <a:sym typeface="Roboto"/>
            </a:endParaRPr>
          </a:p>
        </p:txBody>
      </p:sp>
      <p:pic>
        <p:nvPicPr>
          <p:cNvPr id="250" name="Google Shape;250;p43" title="floor plan.jpg"/>
          <p:cNvPicPr preferRelativeResize="0"/>
          <p:nvPr/>
        </p:nvPicPr>
        <p:blipFill rotWithShape="1">
          <a:blip r:embed="rId4">
            <a:alphaModFix/>
          </a:blip>
          <a:srcRect b="0" l="4570" r="4570" t="0"/>
          <a:stretch/>
        </p:blipFill>
        <p:spPr>
          <a:xfrm>
            <a:off x="2040501" y="874888"/>
            <a:ext cx="5063000" cy="33937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4" name="Shape 254"/>
        <p:cNvGrpSpPr/>
        <p:nvPr/>
      </p:nvGrpSpPr>
      <p:grpSpPr>
        <a:xfrm>
          <a:off x="0" y="0"/>
          <a:ext cx="0" cy="0"/>
          <a:chOff x="0" y="0"/>
          <a:chExt cx="0" cy="0"/>
        </a:xfrm>
      </p:grpSpPr>
      <p:sp>
        <p:nvSpPr>
          <p:cNvPr id="255" name="Google Shape;255;p44"/>
          <p:cNvSpPr txBox="1"/>
          <p:nvPr>
            <p:ph type="ctrTitle"/>
          </p:nvPr>
        </p:nvSpPr>
        <p:spPr>
          <a:xfrm>
            <a:off x="343550" y="252300"/>
            <a:ext cx="31185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Siding Color</a:t>
            </a:r>
            <a:endParaRPr sz="1200"/>
          </a:p>
        </p:txBody>
      </p:sp>
      <p:pic>
        <p:nvPicPr>
          <p:cNvPr id="256" name="Google Shape;256;p44" title="Wylie Siding color.jpeg"/>
          <p:cNvPicPr preferRelativeResize="0"/>
          <p:nvPr/>
        </p:nvPicPr>
        <p:blipFill rotWithShape="1">
          <a:blip r:embed="rId4">
            <a:alphaModFix/>
          </a:blip>
          <a:srcRect b="0" l="0" r="0" t="0"/>
          <a:stretch/>
        </p:blipFill>
        <p:spPr>
          <a:xfrm>
            <a:off x="3159113" y="252300"/>
            <a:ext cx="2825775" cy="44585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0" name="Shape 260"/>
        <p:cNvGrpSpPr/>
        <p:nvPr/>
      </p:nvGrpSpPr>
      <p:grpSpPr>
        <a:xfrm>
          <a:off x="0" y="0"/>
          <a:ext cx="0" cy="0"/>
          <a:chOff x="0" y="0"/>
          <a:chExt cx="0" cy="0"/>
        </a:xfrm>
      </p:grpSpPr>
      <p:sp>
        <p:nvSpPr>
          <p:cNvPr id="261" name="Google Shape;261;p45"/>
          <p:cNvSpPr txBox="1"/>
          <p:nvPr/>
        </p:nvSpPr>
        <p:spPr>
          <a:xfrm>
            <a:off x="343550" y="1320100"/>
            <a:ext cx="83442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073763"/>
                </a:solidFill>
                <a:latin typeface="Roboto"/>
                <a:ea typeface="Roboto"/>
                <a:cs typeface="Roboto"/>
                <a:sym typeface="Roboto"/>
              </a:rPr>
              <a:t>The Department recommends that the BZA adopt the proposed findings, approve the Conditional Use request, and deny the variance requests with the following conditions:</a:t>
            </a:r>
            <a:endParaRPr sz="2000">
              <a:solidFill>
                <a:srgbClr val="073763"/>
              </a:solidFill>
              <a:latin typeface="Roboto"/>
              <a:ea typeface="Roboto"/>
              <a:cs typeface="Roboto"/>
              <a:sym typeface="Roboto"/>
            </a:endParaRPr>
          </a:p>
          <a:p>
            <a:pPr indent="-355600" lvl="0" marL="914400" rtl="0" algn="l">
              <a:lnSpc>
                <a:spcPct val="115000"/>
              </a:lnSpc>
              <a:spcBef>
                <a:spcPts val="0"/>
              </a:spcBef>
              <a:spcAft>
                <a:spcPts val="0"/>
              </a:spcAft>
              <a:buClr>
                <a:srgbClr val="073763"/>
              </a:buClr>
              <a:buSzPts val="2000"/>
              <a:buFont typeface="Roboto"/>
              <a:buAutoNum type="arabicPeriod"/>
            </a:pPr>
            <a:r>
              <a:rPr lang="en" sz="2000">
                <a:solidFill>
                  <a:srgbClr val="073763"/>
                </a:solidFill>
                <a:latin typeface="Roboto"/>
                <a:ea typeface="Roboto"/>
                <a:cs typeface="Roboto"/>
                <a:sym typeface="Roboto"/>
              </a:rPr>
              <a:t>The conditional use approval is limited to the design shown and discussed in the packet.</a:t>
            </a:r>
            <a:endParaRPr sz="2000">
              <a:solidFill>
                <a:srgbClr val="073763"/>
              </a:solidFill>
              <a:latin typeface="Roboto"/>
              <a:ea typeface="Roboto"/>
              <a:cs typeface="Roboto"/>
              <a:sym typeface="Roboto"/>
            </a:endParaRPr>
          </a:p>
          <a:p>
            <a:pPr indent="-355600" lvl="0" marL="914400" rtl="0" algn="l">
              <a:lnSpc>
                <a:spcPct val="115000"/>
              </a:lnSpc>
              <a:spcBef>
                <a:spcPts val="0"/>
              </a:spcBef>
              <a:spcAft>
                <a:spcPts val="0"/>
              </a:spcAft>
              <a:buClr>
                <a:srgbClr val="073763"/>
              </a:buClr>
              <a:buSzPts val="2000"/>
              <a:buFont typeface="Roboto"/>
              <a:buAutoNum type="arabicPeriod"/>
            </a:pPr>
            <a:r>
              <a:rPr lang="en" sz="2000">
                <a:solidFill>
                  <a:srgbClr val="073763"/>
                </a:solidFill>
                <a:latin typeface="Roboto"/>
                <a:ea typeface="Roboto"/>
                <a:cs typeface="Roboto"/>
                <a:sym typeface="Roboto"/>
              </a:rPr>
              <a:t>A right-of-way use permit is required prior to any work in the public right-of-way.</a:t>
            </a:r>
            <a:endParaRPr sz="2000">
              <a:solidFill>
                <a:srgbClr val="073763"/>
              </a:solidFill>
              <a:latin typeface="Roboto"/>
              <a:ea typeface="Roboto"/>
              <a:cs typeface="Roboto"/>
              <a:sym typeface="Roboto"/>
            </a:endParaRPr>
          </a:p>
          <a:p>
            <a:pPr indent="-355600" lvl="0" marL="914400" rtl="0" algn="l">
              <a:lnSpc>
                <a:spcPct val="115000"/>
              </a:lnSpc>
              <a:spcBef>
                <a:spcPts val="0"/>
              </a:spcBef>
              <a:spcAft>
                <a:spcPts val="0"/>
              </a:spcAft>
              <a:buClr>
                <a:srgbClr val="073763"/>
              </a:buClr>
              <a:buSzPts val="2000"/>
              <a:buFont typeface="Roboto"/>
              <a:buAutoNum type="arabicPeriod"/>
            </a:pPr>
            <a:r>
              <a:rPr lang="en" sz="2000">
                <a:solidFill>
                  <a:srgbClr val="073763"/>
                </a:solidFill>
                <a:latin typeface="Roboto"/>
                <a:ea typeface="Roboto"/>
                <a:cs typeface="Roboto"/>
                <a:sym typeface="Roboto"/>
              </a:rPr>
              <a:t>Per the submitted site plan, a 6’ tall opaque fence is required along the east property line.</a:t>
            </a:r>
            <a:endParaRPr sz="2000">
              <a:solidFill>
                <a:srgbClr val="073763"/>
              </a:solidFill>
              <a:latin typeface="Roboto"/>
              <a:ea typeface="Roboto"/>
              <a:cs typeface="Roboto"/>
              <a:sym typeface="Roboto"/>
            </a:endParaRPr>
          </a:p>
        </p:txBody>
      </p:sp>
      <p:sp>
        <p:nvSpPr>
          <p:cNvPr id="262" name="Google Shape;262;p45"/>
          <p:cNvSpPr txBox="1"/>
          <p:nvPr>
            <p:ph type="ctrTitle"/>
          </p:nvPr>
        </p:nvSpPr>
        <p:spPr>
          <a:xfrm>
            <a:off x="343550" y="252300"/>
            <a:ext cx="33066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rgbClr val="073763"/>
                </a:solidFill>
                <a:latin typeface="Roboto"/>
                <a:ea typeface="Roboto"/>
                <a:cs typeface="Roboto"/>
                <a:sym typeface="Roboto"/>
              </a:rPr>
              <a:t>Recommendation</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